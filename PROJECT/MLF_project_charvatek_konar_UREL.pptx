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handoutMasterIdLst>
    <p:handoutMasterId r:id="rId16"/>
  </p:handoutMasterIdLst>
  <p:sldIdLst>
    <p:sldId id="256" r:id="rId5"/>
    <p:sldId id="257" r:id="rId6"/>
    <p:sldId id="258" r:id="rId7"/>
    <p:sldId id="259" r:id="rId8"/>
    <p:sldId id="260" r:id="rId9"/>
    <p:sldId id="261" r:id="rId10"/>
    <p:sldId id="262" r:id="rId11"/>
    <p:sldId id="263" r:id="rId12"/>
    <p:sldId id="264" r:id="rId13"/>
    <p:sldId id="265" r:id="rId14"/>
  </p:sldIdLst>
  <p:sldSz cx="9144000" cy="5715000" type="screen16x10"/>
  <p:notesSz cx="6797675" cy="9926638"/>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4E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82203" autoAdjust="0"/>
  </p:normalViewPr>
  <p:slideViewPr>
    <p:cSldViewPr>
      <p:cViewPr>
        <p:scale>
          <a:sx n="125" d="100"/>
          <a:sy n="125" d="100"/>
        </p:scale>
        <p:origin x="1416" y="-516"/>
      </p:cViewPr>
      <p:guideLst>
        <p:guide orient="horz" pos="2160"/>
        <p:guide pos="2880"/>
        <p:guide orient="horz" pos="18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2"/>
            <a:ext cx="2946400" cy="496889"/>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sz="quarter" idx="1"/>
          </p:nvPr>
        </p:nvSpPr>
        <p:spPr>
          <a:xfrm>
            <a:off x="3849689" y="2"/>
            <a:ext cx="2946400" cy="496889"/>
          </a:xfrm>
          <a:prstGeom prst="rect">
            <a:avLst/>
          </a:prstGeom>
        </p:spPr>
        <p:txBody>
          <a:bodyPr vert="horz" lIns="91440" tIns="45720" rIns="91440" bIns="45720" rtlCol="0"/>
          <a:lstStyle>
            <a:lvl1pPr algn="r">
              <a:defRPr sz="1200"/>
            </a:lvl1pPr>
          </a:lstStyle>
          <a:p>
            <a:fld id="{EB84A967-0BB6-4119-B822-B0EFC3AF55CD}" type="datetimeFigureOut">
              <a:rPr lang="cs-CZ" smtClean="0"/>
              <a:t>03.05.2026</a:t>
            </a:fld>
            <a:endParaRPr lang="cs-CZ"/>
          </a:p>
        </p:txBody>
      </p:sp>
      <p:sp>
        <p:nvSpPr>
          <p:cNvPr id="4" name="Zástupný symbol pro zápatí 3"/>
          <p:cNvSpPr>
            <a:spLocks noGrp="1"/>
          </p:cNvSpPr>
          <p:nvPr>
            <p:ph type="ftr" sz="quarter" idx="2"/>
          </p:nvPr>
        </p:nvSpPr>
        <p:spPr>
          <a:xfrm>
            <a:off x="0" y="9428165"/>
            <a:ext cx="2946400" cy="496887"/>
          </a:xfrm>
          <a:prstGeom prst="rect">
            <a:avLst/>
          </a:prstGeom>
        </p:spPr>
        <p:txBody>
          <a:bodyPr vert="horz" lIns="91440" tIns="45720" rIns="91440" bIns="45720" rtlCol="0" anchor="b"/>
          <a:lstStyle>
            <a:lvl1pPr algn="l">
              <a:defRPr sz="1200"/>
            </a:lvl1pPr>
          </a:lstStyle>
          <a:p>
            <a:endParaRPr lang="cs-CZ"/>
          </a:p>
        </p:txBody>
      </p:sp>
      <p:sp>
        <p:nvSpPr>
          <p:cNvPr id="5" name="Zástupný symbol pro číslo snímku 4"/>
          <p:cNvSpPr>
            <a:spLocks noGrp="1"/>
          </p:cNvSpPr>
          <p:nvPr>
            <p:ph type="sldNum" sz="quarter" idx="3"/>
          </p:nvPr>
        </p:nvSpPr>
        <p:spPr>
          <a:xfrm>
            <a:off x="3849689" y="9428165"/>
            <a:ext cx="2946400" cy="496887"/>
          </a:xfrm>
          <a:prstGeom prst="rect">
            <a:avLst/>
          </a:prstGeom>
        </p:spPr>
        <p:txBody>
          <a:bodyPr vert="horz" lIns="91440" tIns="45720" rIns="91440" bIns="45720" rtlCol="0" anchor="b"/>
          <a:lstStyle>
            <a:lvl1pPr algn="r">
              <a:defRPr sz="1200"/>
            </a:lvl1pPr>
          </a:lstStyle>
          <a:p>
            <a:fld id="{E2A3A604-B1C5-4292-8B4F-F311D0BAA76C}" type="slidenum">
              <a:rPr lang="cs-CZ" smtClean="0"/>
              <a:t>‹#›</a:t>
            </a:fld>
            <a:endParaRPr lang="cs-CZ"/>
          </a:p>
        </p:txBody>
      </p:sp>
    </p:spTree>
    <p:extLst>
      <p:ext uri="{BB962C8B-B14F-4D97-AF65-F5344CB8AC3E}">
        <p14:creationId xmlns:p14="http://schemas.microsoft.com/office/powerpoint/2010/main" val="398826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2" y="0"/>
            <a:ext cx="2945659" cy="496332"/>
          </a:xfrm>
          <a:prstGeom prst="rect">
            <a:avLst/>
          </a:prstGeom>
        </p:spPr>
        <p:txBody>
          <a:bodyPr vert="horz" lIns="91440" tIns="45720" rIns="91440" bIns="45720" rtlCol="0"/>
          <a:lstStyle>
            <a:lvl1pPr algn="l">
              <a:defRPr sz="1200"/>
            </a:lvl1pPr>
          </a:lstStyle>
          <a:p>
            <a:endParaRPr lang="sk-SK"/>
          </a:p>
        </p:txBody>
      </p:sp>
      <p:sp>
        <p:nvSpPr>
          <p:cNvPr id="3" name="Zástupný symbol dátumu 2"/>
          <p:cNvSpPr>
            <a:spLocks noGrp="1"/>
          </p:cNvSpPr>
          <p:nvPr>
            <p:ph type="dt" idx="1"/>
          </p:nvPr>
        </p:nvSpPr>
        <p:spPr>
          <a:xfrm>
            <a:off x="3850445" y="0"/>
            <a:ext cx="2945659" cy="496332"/>
          </a:xfrm>
          <a:prstGeom prst="rect">
            <a:avLst/>
          </a:prstGeom>
        </p:spPr>
        <p:txBody>
          <a:bodyPr vert="horz" lIns="91440" tIns="45720" rIns="91440" bIns="45720" rtlCol="0"/>
          <a:lstStyle>
            <a:lvl1pPr algn="r">
              <a:defRPr sz="1200"/>
            </a:lvl1pPr>
          </a:lstStyle>
          <a:p>
            <a:fld id="{9C0D706A-5474-43E5-863D-DE780BCD056B}" type="datetimeFigureOut">
              <a:rPr lang="sk-SK" smtClean="0"/>
              <a:pPr/>
              <a:t>3. 5. 2026</a:t>
            </a:fld>
            <a:endParaRPr lang="sk-SK"/>
          </a:p>
        </p:txBody>
      </p:sp>
      <p:sp>
        <p:nvSpPr>
          <p:cNvPr id="4" name="Zástupný symbol obrazu snímky 3"/>
          <p:cNvSpPr>
            <a:spLocks noGrp="1" noRot="1" noChangeAspect="1"/>
          </p:cNvSpPr>
          <p:nvPr>
            <p:ph type="sldImg" idx="2"/>
          </p:nvPr>
        </p:nvSpPr>
        <p:spPr>
          <a:xfrm>
            <a:off x="420688" y="744538"/>
            <a:ext cx="5956300" cy="3722687"/>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symbol poznámok 4"/>
          <p:cNvSpPr>
            <a:spLocks noGrp="1"/>
          </p:cNvSpPr>
          <p:nvPr>
            <p:ph type="body" sz="quarter" idx="3"/>
          </p:nvPr>
        </p:nvSpPr>
        <p:spPr>
          <a:xfrm>
            <a:off x="679768" y="4715154"/>
            <a:ext cx="5438140" cy="4466987"/>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symbol päty 5"/>
          <p:cNvSpPr>
            <a:spLocks noGrp="1"/>
          </p:cNvSpPr>
          <p:nvPr>
            <p:ph type="ftr" sz="quarter" idx="4"/>
          </p:nvPr>
        </p:nvSpPr>
        <p:spPr>
          <a:xfrm>
            <a:off x="2" y="9428583"/>
            <a:ext cx="2945659" cy="496332"/>
          </a:xfrm>
          <a:prstGeom prst="rect">
            <a:avLst/>
          </a:prstGeom>
        </p:spPr>
        <p:txBody>
          <a:bodyPr vert="horz" lIns="91440" tIns="45720" rIns="91440" bIns="45720" rtlCol="0" anchor="b"/>
          <a:lstStyle>
            <a:lvl1pPr algn="l">
              <a:defRPr sz="1200"/>
            </a:lvl1pPr>
          </a:lstStyle>
          <a:p>
            <a:endParaRPr lang="sk-SK"/>
          </a:p>
        </p:txBody>
      </p:sp>
      <p:sp>
        <p:nvSpPr>
          <p:cNvPr id="7" name="Zástupný symbol čísla snímky 6"/>
          <p:cNvSpPr>
            <a:spLocks noGrp="1"/>
          </p:cNvSpPr>
          <p:nvPr>
            <p:ph type="sldNum" sz="quarter" idx="5"/>
          </p:nvPr>
        </p:nvSpPr>
        <p:spPr>
          <a:xfrm>
            <a:off x="3850445" y="9428583"/>
            <a:ext cx="2945659" cy="496332"/>
          </a:xfrm>
          <a:prstGeom prst="rect">
            <a:avLst/>
          </a:prstGeom>
        </p:spPr>
        <p:txBody>
          <a:bodyPr vert="horz" lIns="91440" tIns="45720" rIns="91440" bIns="45720" rtlCol="0" anchor="b"/>
          <a:lstStyle>
            <a:lvl1pPr algn="r">
              <a:defRPr sz="1200"/>
            </a:lvl1pPr>
          </a:lstStyle>
          <a:p>
            <a:fld id="{826808C9-8A32-4C28-8398-07DF051FA3B5}" type="slidenum">
              <a:rPr lang="sk-SK" smtClean="0"/>
              <a:pPr/>
              <a:t>‹#›</a:t>
            </a:fld>
            <a:endParaRPr lang="sk-SK"/>
          </a:p>
        </p:txBody>
      </p:sp>
    </p:spTree>
    <p:extLst>
      <p:ext uri="{BB962C8B-B14F-4D97-AF65-F5344CB8AC3E}">
        <p14:creationId xmlns:p14="http://schemas.microsoft.com/office/powerpoint/2010/main" val="3688304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 typeface="Arial" panose="020B0604020202020204" pitchFamily="34" charset="0"/>
              <a:buChar char="•"/>
            </a:pPr>
            <a:r>
              <a:rPr lang="en-US" dirty="0"/>
              <a:t>This is not a standard computer vision task. The input is a radar signal map, not a photo, so the model has to learn from physical reflections rather than shapes or textures. That is why standard image assumptions do not apply directly</a:t>
            </a:r>
            <a:endParaRPr lang="cs-CZ" dirty="0"/>
          </a:p>
          <a:p>
            <a:pPr marL="171450" indent="-171450">
              <a:buFont typeface="Arial" panose="020B0604020202020204" pitchFamily="34" charset="0"/>
              <a:buChar char="•"/>
            </a:pPr>
            <a:r>
              <a:rPr lang="en-US" dirty="0"/>
              <a:t>The dataset was difficult from the start. The images were tiny and noisy, and the class distribution was skewed, so the model could easily fall into a trivial majority-class strategy. Also, the RGB channels were not real colors, only a visualization of signal intensity.</a:t>
            </a:r>
            <a:endParaRPr lang="cs-CZ" dirty="0"/>
          </a:p>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2</a:t>
            </a:fld>
            <a:endParaRPr lang="sk-SK"/>
          </a:p>
        </p:txBody>
      </p:sp>
    </p:spTree>
    <p:extLst>
      <p:ext uri="{BB962C8B-B14F-4D97-AF65-F5344CB8AC3E}">
        <p14:creationId xmlns:p14="http://schemas.microsoft.com/office/powerpoint/2010/main" val="2952355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en-US" dirty="0"/>
              <a:t>However, the validation accuracy quickly got stuck at around 41 percent. The model was not really learning meaningful radar features. Instead, it was mostly falling back to the dominant class and behaving like a statistical guesser. That told us the problem was deeper than just the model choice.</a:t>
            </a:r>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3</a:t>
            </a:fld>
            <a:endParaRPr lang="sk-SK"/>
          </a:p>
        </p:txBody>
      </p:sp>
    </p:spTree>
    <p:extLst>
      <p:ext uri="{BB962C8B-B14F-4D97-AF65-F5344CB8AC3E}">
        <p14:creationId xmlns:p14="http://schemas.microsoft.com/office/powerpoint/2010/main" val="1229795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 typeface="Arial" panose="020B0604020202020204" pitchFamily="34" charset="0"/>
              <a:buChar char="•"/>
            </a:pPr>
            <a:r>
              <a:rPr lang="en-US" dirty="0"/>
              <a:t>After the first failure, we checked the data pipeline manually. We found a critical mismatch: the CSV labels started from 0, while the image filenames started from 1. T</a:t>
            </a:r>
            <a:endParaRPr lang="cs-CZ" dirty="0"/>
          </a:p>
          <a:p>
            <a:pPr marL="171450" indent="-171450">
              <a:buFont typeface="Arial" panose="020B0604020202020204" pitchFamily="34" charset="0"/>
              <a:buChar char="•"/>
            </a:pPr>
            <a:r>
              <a:rPr lang="en-US" dirty="0"/>
              <a:t>hat meant the model was being trained on wrong image-label pairs.</a:t>
            </a:r>
          </a:p>
          <a:p>
            <a:pPr marL="171450" indent="-171450">
              <a:buFont typeface="Arial" panose="020B0604020202020204" pitchFamily="34" charset="0"/>
              <a:buChar char="•"/>
            </a:pPr>
            <a:r>
              <a:rPr lang="en-US" dirty="0"/>
              <a:t>We fixed this by writing a custom loader that matched the labels with the correct image files.</a:t>
            </a:r>
            <a:endParaRPr lang="cs-CZ" dirty="0"/>
          </a:p>
          <a:p>
            <a:pPr marL="171450" indent="-171450">
              <a:buFont typeface="Arial" panose="020B0604020202020204" pitchFamily="34" charset="0"/>
              <a:buChar char="•"/>
            </a:pPr>
            <a:r>
              <a:rPr lang="en-US" dirty="0"/>
              <a:t>This was the first major breakthrough in the project. </a:t>
            </a:r>
            <a:endParaRPr lang="cs-CZ" dirty="0"/>
          </a:p>
          <a:p>
            <a:pPr marL="171450" indent="-171450">
              <a:buFont typeface="Arial" panose="020B0604020202020204" pitchFamily="34" charset="0"/>
              <a:buChar char="•"/>
            </a:pPr>
            <a:r>
              <a:rPr lang="en-US" dirty="0"/>
              <a:t>Even after that, the standard computer vision pipeline was still not usable, so we had to rethink preprocessing as well.</a:t>
            </a:r>
          </a:p>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4</a:t>
            </a:fld>
            <a:endParaRPr lang="sk-SK"/>
          </a:p>
        </p:txBody>
      </p:sp>
    </p:spTree>
    <p:extLst>
      <p:ext uri="{BB962C8B-B14F-4D97-AF65-F5344CB8AC3E}">
        <p14:creationId xmlns:p14="http://schemas.microsoft.com/office/powerpoint/2010/main" val="2003488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 typeface="Arial" panose="020B0604020202020204" pitchFamily="34" charset="0"/>
              <a:buChar char="•"/>
            </a:pPr>
            <a:r>
              <a:rPr lang="en-US" dirty="0"/>
              <a:t>Radar maps are not normal photos. The RGB channels were only an artificial visualization of signal intensity, so we removed them and converted everything to grayscale. </a:t>
            </a:r>
          </a:p>
          <a:p>
            <a:pPr marL="171450" indent="-171450">
              <a:buFont typeface="Arial" panose="020B0604020202020204" pitchFamily="34" charset="0"/>
              <a:buChar char="•"/>
            </a:pPr>
            <a:r>
              <a:rPr lang="en-US" dirty="0"/>
              <a:t>We kept the native resolution of </a:t>
            </a:r>
            <a:r>
              <a:rPr lang="en-US" b="1" dirty="0"/>
              <a:t>51 × 45</a:t>
            </a:r>
            <a:r>
              <a:rPr lang="en-US" dirty="0"/>
              <a:t> because upscaling to </a:t>
            </a:r>
            <a:r>
              <a:rPr lang="en-US" b="1" dirty="0"/>
              <a:t>128 × 128</a:t>
            </a:r>
            <a:r>
              <a:rPr lang="en-US" dirty="0"/>
              <a:t> blurred the small radar features that actually carry information. </a:t>
            </a:r>
          </a:p>
          <a:p>
            <a:pPr marL="171450" indent="-171450">
              <a:buFont typeface="Arial" panose="020B0604020202020204" pitchFamily="34" charset="0"/>
              <a:buChar char="•"/>
            </a:pPr>
            <a:r>
              <a:rPr lang="en-US" dirty="0"/>
              <a:t>Data augmentation is a technique where images are artificially modified, for example by shifting, rotating, or slightly scaling them to create more training samples; however, in radar maps these operations would change the physical meaning of the signal (e.g., position corresponds to distance or velocity)</a:t>
            </a:r>
            <a:endParaRPr lang="cs-CZ" dirty="0"/>
          </a:p>
          <a:p>
            <a:pPr marL="171450" indent="-171450">
              <a:buFont typeface="Arial" panose="020B0604020202020204" pitchFamily="34" charset="0"/>
              <a:buChar char="•"/>
            </a:pPr>
            <a:r>
              <a:rPr lang="en-US" dirty="0"/>
              <a:t>Pixel values were normalized by dividing by </a:t>
            </a:r>
            <a:r>
              <a:rPr lang="en-US" b="1" dirty="0"/>
              <a:t>255.0</a:t>
            </a:r>
            <a:r>
              <a:rPr lang="en-US" dirty="0"/>
              <a:t>, so the input values were in the range </a:t>
            </a:r>
            <a:r>
              <a:rPr lang="en-US" b="1" dirty="0"/>
              <a:t>0 to 1</a:t>
            </a:r>
            <a:r>
              <a:rPr lang="en-US" dirty="0"/>
              <a:t>. That made training more stable and kept the scale consistent. </a:t>
            </a:r>
          </a:p>
          <a:p>
            <a:pPr marL="171450" indent="-171450">
              <a:buFont typeface="Arial" panose="020B0604020202020204" pitchFamily="34" charset="0"/>
              <a:buChar char="•"/>
            </a:pPr>
            <a:r>
              <a:rPr lang="en-US" dirty="0"/>
              <a:t>Overall, the goal was to keep the input as close as possible to the real radar signal instead of turning it into something that only looks like an image.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b="1" dirty="0" err="1"/>
              <a:t>Normalization</a:t>
            </a:r>
            <a:r>
              <a:rPr lang="cs-CZ" b="1" dirty="0"/>
              <a:t>:</a:t>
            </a:r>
            <a:r>
              <a:rPr lang="cs-CZ" dirty="0"/>
              <a:t> </a:t>
            </a:r>
            <a:r>
              <a:rPr lang="cs-CZ" dirty="0" err="1"/>
              <a:t>Standardized</a:t>
            </a:r>
            <a:r>
              <a:rPr lang="cs-CZ" dirty="0"/>
              <a:t> pixel </a:t>
            </a:r>
            <a:r>
              <a:rPr lang="cs-CZ" dirty="0" err="1"/>
              <a:t>values</a:t>
            </a:r>
            <a:r>
              <a:rPr lang="cs-CZ" dirty="0"/>
              <a:t> </a:t>
            </a:r>
            <a:r>
              <a:rPr lang="cs-CZ" dirty="0" err="1"/>
              <a:t>for</a:t>
            </a:r>
            <a:r>
              <a:rPr lang="cs-CZ" dirty="0"/>
              <a:t> </a:t>
            </a:r>
            <a:r>
              <a:rPr lang="cs-CZ" dirty="0" err="1"/>
              <a:t>stable</a:t>
            </a:r>
            <a:r>
              <a:rPr lang="cs-CZ" dirty="0"/>
              <a:t> gradient </a:t>
            </a:r>
            <a:r>
              <a:rPr lang="cs-CZ" dirty="0" err="1"/>
              <a:t>descent</a:t>
            </a:r>
            <a:r>
              <a:rPr lang="cs-CZ" dirty="0"/>
              <a:t>.</a:t>
            </a:r>
            <a:endParaRPr lang="en-US" dirty="0"/>
          </a:p>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5</a:t>
            </a:fld>
            <a:endParaRPr lang="sk-SK"/>
          </a:p>
        </p:txBody>
      </p:sp>
    </p:spTree>
    <p:extLst>
      <p:ext uri="{BB962C8B-B14F-4D97-AF65-F5344CB8AC3E}">
        <p14:creationId xmlns:p14="http://schemas.microsoft.com/office/powerpoint/2010/main" val="874898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fontScale="47500" lnSpcReduction="20000"/>
          </a:bodyPr>
          <a:lstStyle/>
          <a:p>
            <a:r>
              <a:rPr lang="en-US" b="1" dirty="0"/>
              <a:t>Overall Idea</a:t>
            </a:r>
          </a:p>
          <a:p>
            <a:r>
              <a:rPr lang="en-US" dirty="0"/>
              <a:t>The final model is a lightweight convolutional neural network designed specifically for low-resolution radar data.</a:t>
            </a:r>
          </a:p>
          <a:p>
            <a:r>
              <a:rPr lang="en-US" dirty="0"/>
              <a:t>Instead of maximizing complexity, the goal was to extract meaningful local patterns while preserving the physical structure of the signal.</a:t>
            </a:r>
            <a:br>
              <a:rPr lang="en-US" dirty="0"/>
            </a:br>
            <a:r>
              <a:rPr lang="en-US" dirty="0"/>
              <a:t>A deeper or more complex model was tested, but it did not improve performance and often led to overfitting.</a:t>
            </a:r>
          </a:p>
          <a:p>
            <a:endParaRPr lang="en-US" dirty="0"/>
          </a:p>
          <a:p>
            <a:r>
              <a:rPr lang="en-US" b="1" dirty="0"/>
              <a:t>Input Layer (51 × 45 × 1)</a:t>
            </a:r>
          </a:p>
          <a:p>
            <a:r>
              <a:rPr lang="en-US" dirty="0"/>
              <a:t>The input is a grayscale Delay-Doppler map with resolution 51 × 45 pixels.</a:t>
            </a:r>
          </a:p>
          <a:p>
            <a:r>
              <a:rPr lang="en-US" dirty="0"/>
              <a:t>Only one channel is used because the original RGB representation does not carry real information — it is just a visualization of signal intensity.</a:t>
            </a:r>
            <a:br>
              <a:rPr lang="en-US" dirty="0"/>
            </a:br>
            <a:r>
              <a:rPr lang="en-US" dirty="0"/>
              <a:t>Converting to grayscale removes unnecessary noise and forces the model to focus on the actual radar signal.</a:t>
            </a:r>
            <a:br>
              <a:rPr lang="en-US" dirty="0"/>
            </a:br>
            <a:endParaRPr lang="en-US" dirty="0"/>
          </a:p>
          <a:p>
            <a:r>
              <a:rPr lang="en-US" b="1" dirty="0"/>
              <a:t>First Convolutional Block</a:t>
            </a:r>
          </a:p>
          <a:p>
            <a:r>
              <a:rPr lang="en-US" b="1" dirty="0"/>
              <a:t>Conv2D (32 filters, 3×3, </a:t>
            </a:r>
            <a:r>
              <a:rPr lang="en-US" b="1" dirty="0" err="1"/>
              <a:t>ReLU</a:t>
            </a:r>
            <a:r>
              <a:rPr lang="en-US" b="1" dirty="0"/>
              <a:t>)</a:t>
            </a:r>
            <a:br>
              <a:rPr lang="en-US" dirty="0"/>
            </a:br>
            <a:r>
              <a:rPr lang="en-US" dirty="0"/>
              <a:t>This layer applies 32 filters that scan the image and detect simple local patterns.</a:t>
            </a:r>
          </a:p>
          <a:p>
            <a:r>
              <a:rPr lang="en-US" dirty="0"/>
              <a:t>These patterns correspond to basic radar features, such as small reflection peaks or edges in the signal.</a:t>
            </a:r>
            <a:br>
              <a:rPr lang="en-US" dirty="0"/>
            </a:br>
            <a:r>
              <a:rPr lang="en-US" dirty="0"/>
              <a:t>The 3×3 kernel captures local structure while preserving spatial resolution.</a:t>
            </a:r>
            <a:br>
              <a:rPr lang="en-US" dirty="0"/>
            </a:br>
            <a:r>
              <a:rPr lang="en-US" dirty="0" err="1"/>
              <a:t>ReLU</a:t>
            </a:r>
            <a:r>
              <a:rPr lang="en-US" dirty="0"/>
              <a:t> introduces non-linearity, allowing the network to learn more complex relationships.</a:t>
            </a:r>
            <a:br>
              <a:rPr lang="en-US" dirty="0"/>
            </a:br>
            <a:endParaRPr lang="en-US" dirty="0"/>
          </a:p>
          <a:p>
            <a:r>
              <a:rPr lang="en-US" b="1" dirty="0" err="1"/>
              <a:t>MaxPooling</a:t>
            </a:r>
            <a:r>
              <a:rPr lang="en-US" b="1" dirty="0"/>
              <a:t> (2×2)</a:t>
            </a:r>
            <a:br>
              <a:rPr lang="en-US" dirty="0"/>
            </a:br>
            <a:r>
              <a:rPr lang="en-US" dirty="0"/>
              <a:t>This layer reduces the spatial resolution by selecting the maximum value in each 2×2 region.</a:t>
            </a:r>
          </a:p>
          <a:p>
            <a:r>
              <a:rPr lang="en-US" dirty="0"/>
              <a:t>It helps reduce computational complexity and makes the model more robust to small spatial variations.</a:t>
            </a:r>
            <a:br>
              <a:rPr lang="en-US" dirty="0"/>
            </a:br>
            <a:r>
              <a:rPr lang="en-US" dirty="0"/>
              <a:t>It also suppresses noise by keeping only the strongest activations.</a:t>
            </a:r>
          </a:p>
          <a:p>
            <a:endParaRPr lang="en-US" dirty="0"/>
          </a:p>
          <a:p>
            <a:r>
              <a:rPr lang="en-US" b="1" dirty="0"/>
              <a:t>Dropout (0.25)</a:t>
            </a:r>
            <a:br>
              <a:rPr lang="en-US" dirty="0"/>
            </a:br>
            <a:r>
              <a:rPr lang="en-US" dirty="0"/>
              <a:t>Randomly disables 25% of neurons during training.</a:t>
            </a:r>
          </a:p>
          <a:p>
            <a:r>
              <a:rPr lang="en-US" dirty="0"/>
              <a:t>This prevents the model from relying too heavily on specific features and reduces overfitting.</a:t>
            </a:r>
            <a:br>
              <a:rPr lang="en-US" dirty="0"/>
            </a:br>
            <a:r>
              <a:rPr lang="en-US" dirty="0"/>
              <a:t>It encourages the network to learn more general patterns instead of memorizing noise.</a:t>
            </a:r>
          </a:p>
          <a:p>
            <a:endParaRPr lang="en-US" dirty="0"/>
          </a:p>
          <a:p>
            <a:r>
              <a:rPr lang="en-US" b="1" dirty="0"/>
              <a:t>Second Convolutional Block</a:t>
            </a:r>
          </a:p>
          <a:p>
            <a:r>
              <a:rPr lang="en-US" b="1" dirty="0"/>
              <a:t>Conv2D (64 filters, 3×3, </a:t>
            </a:r>
            <a:r>
              <a:rPr lang="en-US" b="1" dirty="0" err="1"/>
              <a:t>ReLU</a:t>
            </a:r>
            <a:r>
              <a:rPr lang="en-US" b="1" dirty="0"/>
              <a:t>)</a:t>
            </a:r>
            <a:br>
              <a:rPr lang="en-US" dirty="0"/>
            </a:br>
            <a:r>
              <a:rPr lang="en-US" dirty="0"/>
              <a:t>This layer builds on the previous one and detects more complex patterns.</a:t>
            </a:r>
          </a:p>
          <a:p>
            <a:r>
              <a:rPr lang="en-US" dirty="0"/>
              <a:t>Instead of simple peaks, it can represent combinations of reflections, which may correspond to multiple people.</a:t>
            </a:r>
            <a:br>
              <a:rPr lang="en-US" dirty="0"/>
            </a:br>
            <a:r>
              <a:rPr lang="en-US" dirty="0"/>
              <a:t>The number of filters is increased to capture richer features.</a:t>
            </a:r>
          </a:p>
          <a:p>
            <a:endParaRPr lang="en-US" dirty="0"/>
          </a:p>
          <a:p>
            <a:r>
              <a:rPr lang="en-US" b="1" dirty="0" err="1"/>
              <a:t>MaxPooling</a:t>
            </a:r>
            <a:r>
              <a:rPr lang="en-US" b="1" dirty="0"/>
              <a:t> (2×2)</a:t>
            </a:r>
            <a:br>
              <a:rPr lang="en-US" dirty="0"/>
            </a:br>
            <a:r>
              <a:rPr lang="en-US" dirty="0"/>
              <a:t>Further reduces spatial resolution and keeps dominant activations.</a:t>
            </a:r>
          </a:p>
          <a:p>
            <a:r>
              <a:rPr lang="en-US" dirty="0"/>
              <a:t>At this stage, the network focuses less on exact positions and more on overall signal structure.</a:t>
            </a:r>
          </a:p>
          <a:p>
            <a:endParaRPr lang="en-US" dirty="0"/>
          </a:p>
          <a:p>
            <a:r>
              <a:rPr lang="en-US" b="1" dirty="0"/>
              <a:t>Dropout (0.25)</a:t>
            </a:r>
            <a:br>
              <a:rPr lang="en-US" dirty="0"/>
            </a:br>
            <a:r>
              <a:rPr lang="en-US" dirty="0"/>
              <a:t>Again used to prevent overfitting and ensure the model does not memorize specific noise patterns.</a:t>
            </a:r>
          </a:p>
          <a:p>
            <a:endParaRPr lang="en-US" dirty="0"/>
          </a:p>
          <a:p>
            <a:r>
              <a:rPr lang="en-US" b="1" dirty="0"/>
              <a:t>Flatten Layer</a:t>
            </a:r>
          </a:p>
          <a:p>
            <a:r>
              <a:rPr lang="en-US" dirty="0"/>
              <a:t>Transforms the 2D feature maps into a 1D vector.</a:t>
            </a:r>
          </a:p>
          <a:p>
            <a:r>
              <a:rPr lang="en-US" dirty="0"/>
              <a:t>This allows the extracted features to be passed into the fully connected classification layer.</a:t>
            </a:r>
            <a:br>
              <a:rPr lang="en-US" dirty="0"/>
            </a:br>
            <a:endParaRPr lang="en-US" dirty="0"/>
          </a:p>
          <a:p>
            <a:r>
              <a:rPr lang="en-US" b="1" dirty="0"/>
              <a:t>Dense Layer (128 neurons, </a:t>
            </a:r>
            <a:r>
              <a:rPr lang="en-US" b="1" dirty="0" err="1"/>
              <a:t>ReLU</a:t>
            </a:r>
            <a:r>
              <a:rPr lang="en-US" b="1" dirty="0"/>
              <a:t> + L2 regularization)</a:t>
            </a:r>
          </a:p>
          <a:p>
            <a:r>
              <a:rPr lang="en-US" dirty="0"/>
              <a:t>This is the main decision-making layer.</a:t>
            </a:r>
          </a:p>
          <a:p>
            <a:r>
              <a:rPr lang="en-US" dirty="0"/>
              <a:t>It combines all extracted features and learns how they relate to the final output classes.</a:t>
            </a:r>
            <a:br>
              <a:rPr lang="en-US" dirty="0"/>
            </a:br>
            <a:r>
              <a:rPr lang="en-US" dirty="0" err="1"/>
              <a:t>ReLU</a:t>
            </a:r>
            <a:r>
              <a:rPr lang="en-US" dirty="0"/>
              <a:t> enables non-linear decision boundaries.</a:t>
            </a:r>
          </a:p>
          <a:p>
            <a:r>
              <a:rPr lang="en-US" dirty="0"/>
              <a:t>L2 regularization penalizes large weights, which helps prevent overfitting — especially important for small datasets.</a:t>
            </a:r>
          </a:p>
          <a:p>
            <a:endParaRPr lang="en-US" dirty="0"/>
          </a:p>
          <a:p>
            <a:r>
              <a:rPr lang="en-US" b="1" dirty="0"/>
              <a:t>Dropout (0.3)</a:t>
            </a:r>
          </a:p>
          <a:p>
            <a:r>
              <a:rPr lang="en-US" dirty="0"/>
              <a:t>A slightly higher dropout rate is used here because dense layers are more prone to overfitting.</a:t>
            </a:r>
          </a:p>
          <a:p>
            <a:r>
              <a:rPr lang="en-US" dirty="0"/>
              <a:t>It ensures that the classifier does not depend on a small subset of dominant features.</a:t>
            </a:r>
          </a:p>
          <a:p>
            <a:endParaRPr lang="en-US" dirty="0"/>
          </a:p>
          <a:p>
            <a:r>
              <a:rPr lang="en-US" b="1" dirty="0"/>
              <a:t>Output Layer (Dense 4, </a:t>
            </a:r>
            <a:r>
              <a:rPr lang="en-US" b="1" dirty="0" err="1"/>
              <a:t>Softmax</a:t>
            </a:r>
            <a:r>
              <a:rPr lang="en-US" b="1" dirty="0"/>
              <a:t>)</a:t>
            </a:r>
          </a:p>
          <a:p>
            <a:r>
              <a:rPr lang="en-US" dirty="0"/>
              <a:t>The final layer has 4 neurons, corresponding to the four classes (0–3 people).</a:t>
            </a:r>
          </a:p>
          <a:p>
            <a:r>
              <a:rPr lang="en-US" dirty="0" err="1"/>
              <a:t>Softmax</a:t>
            </a:r>
            <a:r>
              <a:rPr lang="en-US" dirty="0"/>
              <a:t> converts the outputs into probabilities that sum to 1.</a:t>
            </a:r>
            <a:br>
              <a:rPr lang="en-US" dirty="0"/>
            </a:br>
            <a:r>
              <a:rPr lang="en-US" dirty="0"/>
              <a:t>The predicted class is the one with the highest probability.</a:t>
            </a:r>
          </a:p>
          <a:p>
            <a:endParaRPr lang="cs-CZ" dirty="0"/>
          </a:p>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6</a:t>
            </a:fld>
            <a:endParaRPr lang="sk-SK"/>
          </a:p>
        </p:txBody>
      </p:sp>
    </p:spTree>
    <p:extLst>
      <p:ext uri="{BB962C8B-B14F-4D97-AF65-F5344CB8AC3E}">
        <p14:creationId xmlns:p14="http://schemas.microsoft.com/office/powerpoint/2010/main" val="3591802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used a </a:t>
            </a:r>
            <a:r>
              <a:rPr lang="en-US" b="1" dirty="0"/>
              <a:t>stratified 80/20 split</a:t>
            </a:r>
            <a:r>
              <a:rPr lang="en-US" dirty="0"/>
              <a:t>, so the class distribution stayed similar in both training and validation. That was important because the dataset was heavily imbalanced. </a:t>
            </a:r>
            <a:endParaRPr lang="cs-CZ"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notebook version used </a:t>
            </a:r>
            <a:r>
              <a:rPr lang="en-US" b="1" dirty="0"/>
              <a:t>Adam</a:t>
            </a:r>
            <a:r>
              <a:rPr lang="en-US" dirty="0"/>
              <a:t>, with </a:t>
            </a:r>
            <a:r>
              <a:rPr lang="en-US" b="1" dirty="0"/>
              <a:t>early stopping</a:t>
            </a:r>
            <a:r>
              <a:rPr lang="en-US" dirty="0"/>
              <a:t> and </a:t>
            </a:r>
            <a:r>
              <a:rPr lang="en-US" b="1" dirty="0" err="1"/>
              <a:t>ReduceLROnPlateau</a:t>
            </a:r>
            <a:r>
              <a:rPr lang="en-US" dirty="0"/>
              <a:t> to slow the learning rate when validation stopped improving. In the refined setup, we worked with a small learning rate around </a:t>
            </a:r>
            <a:r>
              <a:rPr lang="en-US" b="1" dirty="0"/>
              <a:t>0.0005</a:t>
            </a:r>
            <a:r>
              <a:rPr lang="en-US" dirty="0"/>
              <a:t> to keep training stable. </a:t>
            </a:r>
            <a:endParaRPr lang="cs-CZ"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model was trained for </a:t>
            </a:r>
            <a:r>
              <a:rPr lang="en-US" b="1" dirty="0"/>
              <a:t>50 epochs</a:t>
            </a:r>
            <a:r>
              <a:rPr lang="en-US" dirty="0"/>
              <a:t>, but early stopping meant it could stop earlier if validation stopped getting better. The point was not to train as long as possible. </a:t>
            </a:r>
            <a:endParaRPr lang="cs-CZ"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point was to get stable generalization without overfitting. So the training setup was chosen to make the model learn the real radar structure, not just memorize the training set.</a:t>
            </a:r>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7</a:t>
            </a:fld>
            <a:endParaRPr lang="sk-SK"/>
          </a:p>
        </p:txBody>
      </p:sp>
    </p:spTree>
    <p:extLst>
      <p:ext uri="{BB962C8B-B14F-4D97-AF65-F5344CB8AC3E}">
        <p14:creationId xmlns:p14="http://schemas.microsoft.com/office/powerpoint/2010/main" val="268686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fontScale="92500" lnSpcReduction="10000"/>
          </a:bodyPr>
          <a:lstStyle/>
          <a:p>
            <a:r>
              <a:rPr lang="cs-CZ" dirty="0"/>
              <a:t>Zkusili jsme jít cestou moderních trendů jako </a:t>
            </a:r>
            <a:r>
              <a:rPr lang="cs-CZ" dirty="0" err="1"/>
              <a:t>ResNet</a:t>
            </a:r>
            <a:r>
              <a:rPr lang="cs-CZ" dirty="0"/>
              <a:t> nebo </a:t>
            </a:r>
            <a:r>
              <a:rPr lang="cs-CZ" dirty="0" err="1"/>
              <a:t>Attention</a:t>
            </a:r>
            <a:r>
              <a:rPr lang="cs-CZ" dirty="0"/>
              <a:t> mechanismy, ale narazili jsme na to, že naše obrázky jsou pro tyhle 'kanóny' moc malé. Ten nejsložitější model byl v podstatě příliš chytrý na to, aby se naučil jednoduché tvary, a místo toho začal v těch 45x51 pixelech hledat nesmysly (šum). Proto jsme se vrátili k základnímu 2-blokovému modelu, který má ideální balanc mezi hloubkou a schopností udržet čistý signál.</a:t>
            </a:r>
          </a:p>
          <a:p>
            <a:endParaRPr lang="cs-CZ" dirty="0"/>
          </a:p>
          <a:p>
            <a:r>
              <a:rPr lang="en-US" dirty="0"/>
              <a:t>We also tested deeper architectures with </a:t>
            </a:r>
            <a:r>
              <a:rPr lang="en-US" b="1" dirty="0"/>
              <a:t>4–5 convolutional layers and Batch Normalization</a:t>
            </a:r>
            <a:r>
              <a:rPr lang="en-US" dirty="0"/>
              <a:t>. Another attempt was a </a:t>
            </a:r>
            <a:r>
              <a:rPr lang="en-US" b="1" dirty="0" err="1"/>
              <a:t>ResNet</a:t>
            </a:r>
            <a:r>
              <a:rPr lang="en-US" b="1" dirty="0"/>
              <a:t>-inspired backbone with Squeeze-and-Excitation attention blocks</a:t>
            </a:r>
            <a:r>
              <a:rPr lang="en-US" dirty="0"/>
              <a:t>. </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models had much higher capacity, so at first they looked promising. They were able to learn very complex representations of the input data. In practice, they overfit strongly. The network had enough power to fit the training set almost perfectly, but it did not generalize to new data. The main issue was the data itself. The radar images are very small and noisy, so there is not enough reliable structure for such a complex model. As a result, the network started treating noise and tiny pixel artifacts as meaningful features. Instead of learning general patterns, it learned very specific details of the training set. This was a key lesson: for this dataset, more complexity did not automatically mean better performance. In fact, a simpler model worked better because it was forced to focus only on the most important signal patterns.</a:t>
            </a:r>
            <a:endParaRPr lang="cs-CZ" dirty="0"/>
          </a:p>
          <a:p>
            <a:endParaRPr lang="cs-CZ" dirty="0"/>
          </a:p>
          <a:p>
            <a:r>
              <a:rPr lang="cs-CZ" dirty="0"/>
              <a:t>(Pro nás abychom pořádně </a:t>
            </a:r>
            <a:r>
              <a:rPr lang="cs-CZ" dirty="0" err="1"/>
              <a:t>vědeli</a:t>
            </a:r>
            <a:r>
              <a:rPr lang="cs-CZ" dirty="0"/>
              <a:t> co to je) </a:t>
            </a:r>
          </a:p>
          <a:p>
            <a:endParaRPr lang="cs-CZ" dirty="0"/>
          </a:p>
          <a:p>
            <a:r>
              <a:rPr lang="en-US" dirty="0"/>
              <a:t>A </a:t>
            </a:r>
            <a:r>
              <a:rPr lang="en-US" b="1" dirty="0" err="1"/>
              <a:t>ResNet</a:t>
            </a:r>
            <a:r>
              <a:rPr lang="en-US" dirty="0"/>
              <a:t> is a deep neural network that uses </a:t>
            </a:r>
            <a:r>
              <a:rPr lang="en-US" i="1" dirty="0"/>
              <a:t>skip connections</a:t>
            </a:r>
            <a:r>
              <a:rPr lang="en-US" dirty="0"/>
              <a:t>. These connections allow the input to bypass some layers, which helps with training deeper models and avoids problems like vanishing gradients. The term </a:t>
            </a:r>
            <a:r>
              <a:rPr lang="en-US" b="1" dirty="0"/>
              <a:t>backbone</a:t>
            </a:r>
            <a:r>
              <a:rPr lang="en-US" dirty="0"/>
              <a:t> refers to the main feature extraction part of the network. It is usually a deep stack of convolutional layers that learns hierarchical features from the input. </a:t>
            </a:r>
            <a:endParaRPr lang="cs-CZ" dirty="0"/>
          </a:p>
          <a:p>
            <a:r>
              <a:rPr lang="en-US" dirty="0"/>
              <a:t>The </a:t>
            </a:r>
            <a:r>
              <a:rPr lang="en-US" b="1" dirty="0"/>
              <a:t>Squeeze-and-Excitation (SE) block</a:t>
            </a:r>
            <a:r>
              <a:rPr lang="en-US" dirty="0"/>
              <a:t> is a type of attention mechanism. It works by learning which feature channels are important and which are not. It first compresses the spatial information, then scales each channel to emphasize useful features and suppress less relevant ones. </a:t>
            </a:r>
            <a:endParaRPr lang="cs-CZ" dirty="0"/>
          </a:p>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8</a:t>
            </a:fld>
            <a:endParaRPr lang="sk-SK"/>
          </a:p>
        </p:txBody>
      </p:sp>
    </p:spTree>
    <p:extLst>
      <p:ext uri="{BB962C8B-B14F-4D97-AF65-F5344CB8AC3E}">
        <p14:creationId xmlns:p14="http://schemas.microsoft.com/office/powerpoint/2010/main" val="4222682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9</a:t>
            </a:fld>
            <a:endParaRPr lang="sk-SK"/>
          </a:p>
        </p:txBody>
      </p:sp>
    </p:spTree>
    <p:extLst>
      <p:ext uri="{BB962C8B-B14F-4D97-AF65-F5344CB8AC3E}">
        <p14:creationId xmlns:p14="http://schemas.microsoft.com/office/powerpoint/2010/main" val="2217159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 typeface="Arial" panose="020B0604020202020204" pitchFamily="34" charset="0"/>
              <a:buChar char="•"/>
            </a:pPr>
            <a:r>
              <a:rPr lang="en-US" dirty="0"/>
              <a:t>The biggest problem was not the model size. The real issue was </a:t>
            </a:r>
            <a:r>
              <a:rPr lang="en-US" b="1" dirty="0"/>
              <a:t>data quality and data consistency</a:t>
            </a:r>
            <a:r>
              <a:rPr lang="en-US" dirty="0"/>
              <a:t>., so it was effectively learning from incorrect supervision. </a:t>
            </a:r>
            <a:endParaRPr lang="cs-CZ" dirty="0"/>
          </a:p>
          <a:p>
            <a:pPr marL="171450" indent="-171450">
              <a:buFont typeface="Arial" panose="020B0604020202020204" pitchFamily="34" charset="0"/>
              <a:buChar char="•"/>
            </a:pPr>
            <a:r>
              <a:rPr lang="en-US" dirty="0"/>
              <a:t>Even after fixing the labels, the data still contained </a:t>
            </a:r>
            <a:r>
              <a:rPr lang="en-US" b="1" dirty="0"/>
              <a:t>artificial RGB channels, noise, and very low resolution</a:t>
            </a:r>
            <a:r>
              <a:rPr lang="en-US" dirty="0"/>
              <a:t>, which made standard computer vision approaches ineffective. </a:t>
            </a:r>
            <a:endParaRPr lang="cs-CZ" dirty="0"/>
          </a:p>
          <a:p>
            <a:pPr marL="171450" indent="-171450">
              <a:buFont typeface="Arial" panose="020B0604020202020204" pitchFamily="34" charset="0"/>
              <a:buChar char="•"/>
            </a:pPr>
            <a:r>
              <a:rPr lang="en-US" dirty="0"/>
              <a:t>This is a clear example of </a:t>
            </a:r>
            <a:r>
              <a:rPr lang="en-US" b="1" dirty="0"/>
              <a:t>“garbage in, garbage out.”</a:t>
            </a:r>
            <a:r>
              <a:rPr lang="en-US" dirty="0"/>
              <a:t> If the input pipeline is wrong or inconsistent, even a strong model will fail because it is optimizing towards incorrect or meaningless targets. </a:t>
            </a:r>
            <a:endParaRPr lang="cs-CZ" dirty="0"/>
          </a:p>
          <a:p>
            <a:pPr marL="171450" indent="-171450">
              <a:buFont typeface="Arial" panose="020B0604020202020204" pitchFamily="34" charset="0"/>
              <a:buChar char="•"/>
            </a:pPr>
            <a:r>
              <a:rPr lang="en-US" dirty="0"/>
              <a:t>Larger models did not help in this case because they had enough capacity to </a:t>
            </a:r>
            <a:r>
              <a:rPr lang="en-US" b="1" dirty="0"/>
              <a:t>memorize noise and dataset-specific artifacts</a:t>
            </a:r>
            <a:r>
              <a:rPr lang="en-US" dirty="0"/>
              <a:t> instead of learning generalizable features. </a:t>
            </a:r>
            <a:endParaRPr lang="cs-CZ" dirty="0"/>
          </a:p>
          <a:p>
            <a:pPr marL="171450" indent="-171450">
              <a:buFont typeface="Arial" panose="020B0604020202020204" pitchFamily="34" charset="0"/>
              <a:buChar char="•"/>
            </a:pPr>
            <a:r>
              <a:rPr lang="en-US" dirty="0"/>
              <a:t>The simpler CNN worked better because it was constrained. It could not memorize everything, so it was forced to focus on the most important and stable patterns in the data. </a:t>
            </a:r>
            <a:endParaRPr lang="cs-CZ" dirty="0"/>
          </a:p>
          <a:p>
            <a:pPr marL="171450" indent="-171450">
              <a:buFont typeface="Arial" panose="020B0604020202020204" pitchFamily="34" charset="0"/>
              <a:buChar char="•"/>
            </a:pPr>
            <a:r>
              <a:rPr lang="en-US" dirty="0"/>
              <a:t>The main lesson is that </a:t>
            </a:r>
            <a:r>
              <a:rPr lang="en-US" b="1" dirty="0"/>
              <a:t>domain knowledge matters</a:t>
            </a:r>
            <a:r>
              <a:rPr lang="en-US" dirty="0"/>
              <a:t>. Understanding that radar maps represent physical signals — not natural images — was key to choosing the right preprocessing and model design. </a:t>
            </a:r>
            <a:endParaRPr lang="cs-CZ" dirty="0"/>
          </a:p>
          <a:p>
            <a:pPr marL="171450" indent="-171450">
              <a:buFont typeface="Arial" panose="020B0604020202020204" pitchFamily="34" charset="0"/>
              <a:buChar char="•"/>
            </a:pPr>
            <a:r>
              <a:rPr lang="en-US" dirty="0"/>
              <a:t>In this project, </a:t>
            </a:r>
            <a:r>
              <a:rPr lang="en-US" b="1" dirty="0"/>
              <a:t>clean data and correct preprocessing had a much bigger impact than architectural complexity</a:t>
            </a:r>
            <a:r>
              <a:rPr lang="en-US" dirty="0"/>
              <a:t>.</a:t>
            </a:r>
            <a:endParaRPr lang="cs-CZ" dirty="0"/>
          </a:p>
        </p:txBody>
      </p:sp>
      <p:sp>
        <p:nvSpPr>
          <p:cNvPr id="4" name="Zástupný symbol pro číslo snímku 3"/>
          <p:cNvSpPr>
            <a:spLocks noGrp="1"/>
          </p:cNvSpPr>
          <p:nvPr>
            <p:ph type="sldNum" sz="quarter" idx="5"/>
          </p:nvPr>
        </p:nvSpPr>
        <p:spPr/>
        <p:txBody>
          <a:bodyPr/>
          <a:lstStyle/>
          <a:p>
            <a:fld id="{826808C9-8A32-4C28-8398-07DF051FA3B5}" type="slidenum">
              <a:rPr lang="sk-SK" smtClean="0"/>
              <a:pPr/>
              <a:t>10</a:t>
            </a:fld>
            <a:endParaRPr lang="sk-SK"/>
          </a:p>
        </p:txBody>
      </p:sp>
    </p:spTree>
    <p:extLst>
      <p:ext uri="{BB962C8B-B14F-4D97-AF65-F5344CB8AC3E}">
        <p14:creationId xmlns:p14="http://schemas.microsoft.com/office/powerpoint/2010/main" val="124854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Úvodná snímka">
    <p:spTree>
      <p:nvGrpSpPr>
        <p:cNvPr id="1" name=""/>
        <p:cNvGrpSpPr/>
        <p:nvPr/>
      </p:nvGrpSpPr>
      <p:grpSpPr>
        <a:xfrm>
          <a:off x="0" y="0"/>
          <a:ext cx="0" cy="0"/>
          <a:chOff x="0" y="0"/>
          <a:chExt cx="0" cy="0"/>
        </a:xfrm>
      </p:grpSpPr>
      <p:sp>
        <p:nvSpPr>
          <p:cNvPr id="3" name="Obdélník 2"/>
          <p:cNvSpPr/>
          <p:nvPr userDrawn="1"/>
        </p:nvSpPr>
        <p:spPr bwMode="auto">
          <a:xfrm>
            <a:off x="0" y="1376625"/>
            <a:ext cx="9144000" cy="4338375"/>
          </a:xfrm>
          <a:prstGeom prst="rect">
            <a:avLst/>
          </a:prstGeom>
          <a:solidFill>
            <a:schemeClr val="bg1"/>
          </a:solidFill>
          <a:ln w="9525">
            <a:noFill/>
            <a:miter lim="800000"/>
            <a:headEnd/>
            <a:tailEnd/>
          </a:ln>
        </p:spPr>
        <p:txBody>
          <a:bodyPr rtlCol="0" anchor="ctr"/>
          <a:lstStyle/>
          <a:p>
            <a:pPr algn="ctr"/>
            <a:endParaRPr lang="en-US" sz="2000">
              <a:solidFill>
                <a:schemeClr val="bg1"/>
              </a:solidFill>
            </a:endParaRPr>
          </a:p>
        </p:txBody>
      </p:sp>
      <p:sp>
        <p:nvSpPr>
          <p:cNvPr id="22" name="Obdĺžnik 21"/>
          <p:cNvSpPr/>
          <p:nvPr userDrawn="1"/>
        </p:nvSpPr>
        <p:spPr>
          <a:xfrm>
            <a:off x="0" y="1"/>
            <a:ext cx="9144000" cy="11178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sk-SK"/>
          </a:p>
        </p:txBody>
      </p:sp>
      <p:sp>
        <p:nvSpPr>
          <p:cNvPr id="15" name="Zástupný symbol textu 14"/>
          <p:cNvSpPr>
            <a:spLocks noGrp="1"/>
          </p:cNvSpPr>
          <p:nvPr>
            <p:ph type="body" sz="quarter" idx="10" hasCustomPrompt="1"/>
          </p:nvPr>
        </p:nvSpPr>
        <p:spPr>
          <a:xfrm>
            <a:off x="683568" y="2077414"/>
            <a:ext cx="7848600" cy="840093"/>
          </a:xfrm>
        </p:spPr>
        <p:txBody>
          <a:bodyPr>
            <a:noAutofit/>
          </a:bodyPr>
          <a:lstStyle>
            <a:lvl1pPr marL="0" algn="ctr">
              <a:buNone/>
              <a:defRPr sz="2800" b="1" i="0" baseline="0">
                <a:solidFill>
                  <a:srgbClr val="004E9B"/>
                </a:solidFill>
                <a:latin typeface="Abadi" panose="020B0604020104020204" pitchFamily="34" charset="0"/>
              </a:defRPr>
            </a:lvl1pPr>
          </a:lstStyle>
          <a:p>
            <a:pPr lvl="0"/>
            <a:r>
              <a:rPr lang="sk-SK" dirty="0"/>
              <a:t>Report </a:t>
            </a:r>
            <a:r>
              <a:rPr lang="sk-SK" dirty="0" err="1"/>
              <a:t>title</a:t>
            </a:r>
            <a:endParaRPr lang="sk-SK" dirty="0"/>
          </a:p>
        </p:txBody>
      </p:sp>
      <p:sp>
        <p:nvSpPr>
          <p:cNvPr id="37" name="Zástupný symbol textu 36"/>
          <p:cNvSpPr>
            <a:spLocks noGrp="1"/>
          </p:cNvSpPr>
          <p:nvPr>
            <p:ph type="body" sz="quarter" idx="11" hasCustomPrompt="1"/>
          </p:nvPr>
        </p:nvSpPr>
        <p:spPr>
          <a:xfrm>
            <a:off x="683571" y="2977513"/>
            <a:ext cx="7847583" cy="360040"/>
          </a:xfrm>
        </p:spPr>
        <p:txBody>
          <a:bodyPr/>
          <a:lstStyle>
            <a:lvl1pPr marL="0" algn="ctr">
              <a:spcBef>
                <a:spcPct val="50000"/>
              </a:spcBef>
              <a:buNone/>
              <a:defRPr sz="2000" baseline="0">
                <a:solidFill>
                  <a:srgbClr val="004E9B"/>
                </a:solidFill>
                <a:latin typeface="Abadi" panose="020F0502020204030204" pitchFamily="34" charset="0"/>
              </a:defRPr>
            </a:lvl1pPr>
          </a:lstStyle>
          <a:p>
            <a:pPr lvl="0"/>
            <a:r>
              <a:rPr lang="sk-SK" dirty="0" err="1"/>
              <a:t>Conference</a:t>
            </a:r>
            <a:endParaRPr lang="sk-SK" dirty="0"/>
          </a:p>
        </p:txBody>
      </p:sp>
      <p:pic>
        <p:nvPicPr>
          <p:cNvPr id="13" name="Picture 3" descr="A picture containing player&#10;&#10;Description automatically generated">
            <a:extLst>
              <a:ext uri="{FF2B5EF4-FFF2-40B4-BE49-F238E27FC236}">
                <a16:creationId xmlns:a16="http://schemas.microsoft.com/office/drawing/2014/main" id="{2AE40175-4535-4253-9183-B7F5D7831A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280" b="22843"/>
          <a:stretch/>
        </p:blipFill>
        <p:spPr>
          <a:xfrm>
            <a:off x="-7888" y="1"/>
            <a:ext cx="9151888" cy="1226820"/>
          </a:xfrm>
          <a:prstGeom prst="rect">
            <a:avLst/>
          </a:prstGeom>
        </p:spPr>
      </p:pic>
      <p:pic>
        <p:nvPicPr>
          <p:cNvPr id="12" name="Graphic 16">
            <a:extLst>
              <a:ext uri="{FF2B5EF4-FFF2-40B4-BE49-F238E27FC236}">
                <a16:creationId xmlns:a16="http://schemas.microsoft.com/office/drawing/2014/main" id="{F5161637-4086-4CF9-830A-CFFC849E5876}"/>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6605" y="201571"/>
            <a:ext cx="1944215" cy="855729"/>
          </a:xfrm>
          <a:prstGeom prst="rect">
            <a:avLst/>
          </a:prstGeom>
        </p:spPr>
      </p:pic>
      <p:pic>
        <p:nvPicPr>
          <p:cNvPr id="14" name="Graphic 9">
            <a:extLst>
              <a:ext uri="{FF2B5EF4-FFF2-40B4-BE49-F238E27FC236}">
                <a16:creationId xmlns:a16="http://schemas.microsoft.com/office/drawing/2014/main" id="{891CA170-942D-475A-8A14-E479C7FE74B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9513" y="4945732"/>
            <a:ext cx="2736304" cy="609215"/>
          </a:xfrm>
          <a:prstGeom prst="rect">
            <a:avLst/>
          </a:prstGeom>
        </p:spPr>
      </p:pic>
      <p:sp>
        <p:nvSpPr>
          <p:cNvPr id="16" name="Zástupný symbol textu 36"/>
          <p:cNvSpPr>
            <a:spLocks noGrp="1"/>
          </p:cNvSpPr>
          <p:nvPr>
            <p:ph type="body" sz="quarter" idx="12" hasCustomPrompt="1"/>
          </p:nvPr>
        </p:nvSpPr>
        <p:spPr>
          <a:xfrm>
            <a:off x="683568" y="3484789"/>
            <a:ext cx="7847583" cy="864096"/>
          </a:xfrm>
        </p:spPr>
        <p:txBody>
          <a:bodyPr/>
          <a:lstStyle>
            <a:lvl1pPr marL="0" algn="ctr">
              <a:spcBef>
                <a:spcPct val="50000"/>
              </a:spcBef>
              <a:buNone/>
              <a:defRPr sz="2000" baseline="0">
                <a:solidFill>
                  <a:srgbClr val="004E9B"/>
                </a:solidFill>
                <a:latin typeface="Tahoma" panose="020B0604030504040204" pitchFamily="34" charset="0"/>
              </a:defRPr>
            </a:lvl1pPr>
          </a:lstStyle>
          <a:p>
            <a:pPr algn="ctr">
              <a:spcBef>
                <a:spcPct val="50000"/>
              </a:spcBef>
            </a:pPr>
            <a:r>
              <a:rPr lang="cs-CZ" sz="1800" dirty="0" err="1">
                <a:solidFill>
                  <a:srgbClr val="004E9B"/>
                </a:solidFill>
                <a:latin typeface="Vafle Light VUT" pitchFamily="2" charset="2"/>
              </a:rPr>
              <a:t>Author</a:t>
            </a:r>
            <a:endParaRPr lang="cs-CZ" sz="1800" dirty="0">
              <a:solidFill>
                <a:srgbClr val="004E9B"/>
              </a:solidFill>
              <a:latin typeface="Vafle Light VUT" pitchFamily="2" charset="2"/>
            </a:endParaRPr>
          </a:p>
          <a:p>
            <a:pPr algn="ctr">
              <a:spcBef>
                <a:spcPct val="50000"/>
              </a:spcBef>
            </a:pPr>
            <a:r>
              <a:rPr lang="cs-CZ" sz="1400" dirty="0">
                <a:solidFill>
                  <a:srgbClr val="004E9B"/>
                </a:solidFill>
                <a:latin typeface="Vafle Light VUT" pitchFamily="2" charset="2"/>
              </a:rPr>
              <a:t>Department </a:t>
            </a:r>
            <a:r>
              <a:rPr lang="cs-CZ" sz="1400" dirty="0" err="1">
                <a:solidFill>
                  <a:srgbClr val="004E9B"/>
                </a:solidFill>
                <a:latin typeface="Vafle Light VUT" pitchFamily="2" charset="2"/>
              </a:rPr>
              <a:t>of</a:t>
            </a:r>
            <a:r>
              <a:rPr lang="cs-CZ" sz="1400" dirty="0">
                <a:solidFill>
                  <a:srgbClr val="004E9B"/>
                </a:solidFill>
                <a:latin typeface="Vafle Light VUT" pitchFamily="2" charset="2"/>
              </a:rPr>
              <a:t> </a:t>
            </a:r>
            <a:r>
              <a:rPr lang="cs-CZ" sz="1400" dirty="0" err="1">
                <a:solidFill>
                  <a:srgbClr val="004E9B"/>
                </a:solidFill>
                <a:latin typeface="Vafle Light VUT" pitchFamily="2" charset="2"/>
              </a:rPr>
              <a:t>radio</a:t>
            </a:r>
            <a:r>
              <a:rPr lang="cs-CZ" sz="1400" dirty="0">
                <a:solidFill>
                  <a:srgbClr val="004E9B"/>
                </a:solidFill>
                <a:latin typeface="Vafle Light VUT" pitchFamily="2" charset="2"/>
              </a:rPr>
              <a:t> </a:t>
            </a:r>
            <a:r>
              <a:rPr lang="cs-CZ" sz="1400" dirty="0" err="1">
                <a:solidFill>
                  <a:srgbClr val="004E9B"/>
                </a:solidFill>
                <a:latin typeface="Vafle Light VUT" pitchFamily="2" charset="2"/>
              </a:rPr>
              <a:t>electornics</a:t>
            </a:r>
            <a:r>
              <a:rPr lang="cs-CZ" sz="1400" dirty="0">
                <a:solidFill>
                  <a:srgbClr val="004E9B"/>
                </a:solidFill>
                <a:latin typeface="Vafle Light VUT" pitchFamily="2" charset="2"/>
              </a:rPr>
              <a:t> FEEC BUT</a:t>
            </a:r>
          </a:p>
          <a:p>
            <a:pPr lvl="0"/>
            <a:endParaRPr lang="sk-SK"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sk-SK"/>
          </a:p>
        </p:txBody>
      </p:sp>
      <p:sp>
        <p:nvSpPr>
          <p:cNvPr id="3" name="Zástupný symbol obsahu 2"/>
          <p:cNvSpPr>
            <a:spLocks noGrp="1"/>
          </p:cNvSpPr>
          <p:nvPr>
            <p:ph idx="1" hasCustomPrompt="1"/>
          </p:nvPr>
        </p:nvSpPr>
        <p:spPr/>
        <p:txBody>
          <a:bodyPr/>
          <a:lstStyle>
            <a:lvl1pPr marL="342900" indent="-342900">
              <a:buFont typeface="Wingdings" pitchFamily="2" charset="2"/>
              <a:buChar char="§"/>
              <a:defRPr/>
            </a:lvl1pPr>
            <a:lvl2pPr marL="742950" indent="-285750">
              <a:buFont typeface="Wingdings" pitchFamily="2" charset="2"/>
              <a:buChar char="§"/>
              <a:defRPr/>
            </a:lvl2pPr>
            <a:lvl3pPr marL="1143000" indent="-228600">
              <a:buFont typeface="Wingdings" pitchFamily="2" charset="2"/>
              <a:buChar char="§"/>
              <a:defRPr/>
            </a:lvl3pPr>
            <a:lvl4pPr marL="1600200" indent="-228600">
              <a:buFont typeface="Wingdings" pitchFamily="2" charset="2"/>
              <a:buChar char="§"/>
              <a:defRPr/>
            </a:lvl4pPr>
            <a:lvl5pPr marL="2057400" indent="-228600">
              <a:buFont typeface="Wingdings" pitchFamily="2" charset="2"/>
              <a:buChar char="§"/>
              <a:defRPr/>
            </a:lvl5pPr>
          </a:lstStyle>
          <a:p>
            <a:pPr lvl="0"/>
            <a:r>
              <a:rPr lang="sk-SK" dirty="0"/>
              <a:t> Kliknite sem a upravte štýly predlohy textu.</a:t>
            </a:r>
          </a:p>
          <a:p>
            <a:pPr lvl="1"/>
            <a:r>
              <a:rPr lang="sk-SK" dirty="0"/>
              <a:t> Druhá úroveň</a:t>
            </a:r>
          </a:p>
          <a:p>
            <a:pPr lvl="2"/>
            <a:r>
              <a:rPr lang="sk-SK" dirty="0"/>
              <a:t> Tretia úroveň</a:t>
            </a:r>
          </a:p>
          <a:p>
            <a:pPr lvl="3"/>
            <a:r>
              <a:rPr lang="sk-SK" dirty="0"/>
              <a:t> Štvrtá úroveň</a:t>
            </a:r>
          </a:p>
          <a:p>
            <a:pPr lvl="4"/>
            <a:r>
              <a:rPr lang="sk-SK" dirty="0"/>
              <a:t> Piata úroveň</a:t>
            </a:r>
          </a:p>
        </p:txBody>
      </p:sp>
      <p:sp>
        <p:nvSpPr>
          <p:cNvPr id="5" name="Zástupný symbol päty 4"/>
          <p:cNvSpPr>
            <a:spLocks noGrp="1"/>
          </p:cNvSpPr>
          <p:nvPr>
            <p:ph type="ftr" sz="quarter" idx="11"/>
          </p:nvPr>
        </p:nvSpPr>
        <p:spPr/>
        <p:txBody>
          <a:bodyPr/>
          <a:lstStyle/>
          <a:p>
            <a:r>
              <a:rPr lang="sk-SK"/>
              <a:t>urel@feec.vutbr.cz</a:t>
            </a:r>
          </a:p>
        </p:txBody>
      </p:sp>
      <p:sp>
        <p:nvSpPr>
          <p:cNvPr id="6" name="Zástupný symbol čísla snímky 5"/>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p:cNvSpPr>
            <a:spLocks noGrp="1"/>
          </p:cNvSpPr>
          <p:nvPr>
            <p:ph type="title"/>
          </p:nvPr>
        </p:nvSpPr>
        <p:spPr>
          <a:xfrm>
            <a:off x="722313" y="3672418"/>
            <a:ext cx="7772400" cy="1135063"/>
          </a:xfrm>
        </p:spPr>
        <p:txBody>
          <a:bodyPr anchor="t"/>
          <a:lstStyle>
            <a:lvl1pPr algn="l">
              <a:defRPr sz="4000" b="1" cap="all"/>
            </a:lvl1pPr>
          </a:lstStyle>
          <a:p>
            <a:r>
              <a:rPr lang="cs-CZ"/>
              <a:t>Kliknutím lze upravit styl.</a:t>
            </a:r>
            <a:endParaRPr lang="sk-SK"/>
          </a:p>
        </p:txBody>
      </p:sp>
      <p:sp>
        <p:nvSpPr>
          <p:cNvPr id="3" name="Zástupný symbol textu 2"/>
          <p:cNvSpPr>
            <a:spLocks noGrp="1"/>
          </p:cNvSpPr>
          <p:nvPr>
            <p:ph type="body" idx="1"/>
          </p:nvPr>
        </p:nvSpPr>
        <p:spPr>
          <a:xfrm>
            <a:off x="722313" y="2422261"/>
            <a:ext cx="7772400" cy="1250156"/>
          </a:xfrm>
        </p:spPr>
        <p:txBody>
          <a:bodyPr anchor="b"/>
          <a:lstStyle>
            <a:lvl1pPr marL="0" indent="0">
              <a:buNone/>
              <a:defRPr sz="2000">
                <a:solidFill>
                  <a:srgbClr val="004E9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5" name="Zástupný symbol päty 4"/>
          <p:cNvSpPr>
            <a:spLocks noGrp="1"/>
          </p:cNvSpPr>
          <p:nvPr>
            <p:ph type="ftr" sz="quarter" idx="11"/>
          </p:nvPr>
        </p:nvSpPr>
        <p:spPr/>
        <p:txBody>
          <a:bodyPr/>
          <a:lstStyle>
            <a:lvl1pPr>
              <a:defRPr>
                <a:solidFill>
                  <a:srgbClr val="004E9B"/>
                </a:solidFill>
              </a:defRPr>
            </a:lvl1pPr>
          </a:lstStyle>
          <a:p>
            <a:r>
              <a:rPr lang="sk-SK"/>
              <a:t>urel@feec.vutbr.cz</a:t>
            </a:r>
          </a:p>
        </p:txBody>
      </p:sp>
      <p:sp>
        <p:nvSpPr>
          <p:cNvPr id="6" name="Zástupný symbol čísla snímky 5"/>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sk-SK"/>
          </a:p>
        </p:txBody>
      </p:sp>
      <p:sp>
        <p:nvSpPr>
          <p:cNvPr id="3" name="Zástupný symbol obsahu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sk-SK"/>
          </a:p>
        </p:txBody>
      </p:sp>
      <p:sp>
        <p:nvSpPr>
          <p:cNvPr id="4" name="Zástupný symbol obsahu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sk-SK"/>
          </a:p>
        </p:txBody>
      </p:sp>
      <p:sp>
        <p:nvSpPr>
          <p:cNvPr id="6" name="Zástupný symbol päty 5"/>
          <p:cNvSpPr>
            <a:spLocks noGrp="1"/>
          </p:cNvSpPr>
          <p:nvPr>
            <p:ph type="ftr" sz="quarter" idx="11"/>
          </p:nvPr>
        </p:nvSpPr>
        <p:spPr/>
        <p:txBody>
          <a:bodyPr/>
          <a:lstStyle/>
          <a:p>
            <a:r>
              <a:rPr lang="sk-SK" dirty="0" err="1">
                <a:solidFill>
                  <a:srgbClr val="004E9B"/>
                </a:solidFill>
              </a:rPr>
              <a:t>urel@feec.vutbr.cz</a:t>
            </a:r>
            <a:endParaRPr lang="sk-SK" dirty="0">
              <a:solidFill>
                <a:srgbClr val="004E9B"/>
              </a:solidFill>
            </a:endParaRPr>
          </a:p>
        </p:txBody>
      </p:sp>
      <p:sp>
        <p:nvSpPr>
          <p:cNvPr id="7" name="Zástupný symbol čísla snímky 6"/>
          <p:cNvSpPr>
            <a:spLocks noGrp="1"/>
          </p:cNvSpPr>
          <p:nvPr>
            <p:ph type="sldNum" sz="quarter" idx="12"/>
          </p:nvPr>
        </p:nvSpPr>
        <p:spPr/>
        <p:txBody>
          <a:bodyPr/>
          <a:lstStyle/>
          <a:p>
            <a:fld id="{D86AE537-8D19-4AE7-8106-38E1909B856B}" type="slidenum">
              <a:rPr lang="sk-SK" smtClean="0"/>
              <a:pPr/>
              <a:t>‹#›</a:t>
            </a:fld>
            <a:endParaRPr lang="sk-SK"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a:t>Kliknutím lze upravit styl.</a:t>
            </a:r>
            <a:endParaRPr lang="sk-SK"/>
          </a:p>
        </p:txBody>
      </p:sp>
      <p:sp>
        <p:nvSpPr>
          <p:cNvPr id="3" name="Zástupný symbol textu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symbol obsahu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sk-SK"/>
          </a:p>
        </p:txBody>
      </p:sp>
      <p:sp>
        <p:nvSpPr>
          <p:cNvPr id="5" name="Zástupný symbol textu 4"/>
          <p:cNvSpPr>
            <a:spLocks noGrp="1"/>
          </p:cNvSpPr>
          <p:nvPr>
            <p:ph type="body" sz="quarter" idx="3"/>
          </p:nvPr>
        </p:nvSpPr>
        <p:spPr>
          <a:xfrm>
            <a:off x="4645028"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symbol obsahu 5"/>
          <p:cNvSpPr>
            <a:spLocks noGrp="1"/>
          </p:cNvSpPr>
          <p:nvPr>
            <p:ph sz="quarter" idx="4"/>
          </p:nvPr>
        </p:nvSpPr>
        <p:spPr>
          <a:xfrm>
            <a:off x="4645028"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sk-SK"/>
          </a:p>
        </p:txBody>
      </p:sp>
      <p:sp>
        <p:nvSpPr>
          <p:cNvPr id="8" name="Zástupný symbol päty 7"/>
          <p:cNvSpPr>
            <a:spLocks noGrp="1"/>
          </p:cNvSpPr>
          <p:nvPr>
            <p:ph type="ftr" sz="quarter" idx="11"/>
          </p:nvPr>
        </p:nvSpPr>
        <p:spPr/>
        <p:txBody>
          <a:bodyPr/>
          <a:lstStyle/>
          <a:p>
            <a:r>
              <a:rPr lang="sk-SK" dirty="0" err="1">
                <a:solidFill>
                  <a:srgbClr val="004E9B"/>
                </a:solidFill>
              </a:rPr>
              <a:t>urel@feec.vutbr.cz</a:t>
            </a:r>
            <a:endParaRPr lang="sk-SK" dirty="0">
              <a:solidFill>
                <a:srgbClr val="004E9B"/>
              </a:solidFill>
            </a:endParaRPr>
          </a:p>
        </p:txBody>
      </p:sp>
      <p:sp>
        <p:nvSpPr>
          <p:cNvPr id="9" name="Zástupný symbol čísla snímky 8"/>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sk-SK"/>
          </a:p>
        </p:txBody>
      </p:sp>
      <p:sp>
        <p:nvSpPr>
          <p:cNvPr id="4" name="Zástupný symbol päty 3"/>
          <p:cNvSpPr>
            <a:spLocks noGrp="1"/>
          </p:cNvSpPr>
          <p:nvPr>
            <p:ph type="ftr" sz="quarter" idx="11"/>
          </p:nvPr>
        </p:nvSpPr>
        <p:spPr/>
        <p:txBody>
          <a:bodyPr/>
          <a:lstStyle/>
          <a:p>
            <a:r>
              <a:rPr lang="sk-SK" dirty="0" err="1">
                <a:solidFill>
                  <a:srgbClr val="004E9B"/>
                </a:solidFill>
              </a:rPr>
              <a:t>urel@feec.vutbr.cz</a:t>
            </a:r>
            <a:endParaRPr lang="sk-SK" dirty="0">
              <a:solidFill>
                <a:srgbClr val="004E9B"/>
              </a:solidFill>
            </a:endParaRPr>
          </a:p>
        </p:txBody>
      </p:sp>
      <p:sp>
        <p:nvSpPr>
          <p:cNvPr id="5" name="Zástupný symbol čísla snímky 4"/>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3" name="Zástupný symbol päty 2"/>
          <p:cNvSpPr>
            <a:spLocks noGrp="1"/>
          </p:cNvSpPr>
          <p:nvPr>
            <p:ph type="ftr" sz="quarter" idx="11"/>
          </p:nvPr>
        </p:nvSpPr>
        <p:spPr/>
        <p:txBody>
          <a:bodyPr/>
          <a:lstStyle/>
          <a:p>
            <a:r>
              <a:rPr lang="sk-SK" dirty="0" err="1">
                <a:solidFill>
                  <a:srgbClr val="004E9B"/>
                </a:solidFill>
              </a:rPr>
              <a:t>urel@feec.vutbr.cz</a:t>
            </a:r>
            <a:endParaRPr lang="sk-SK" dirty="0">
              <a:solidFill>
                <a:srgbClr val="004E9B"/>
              </a:solidFill>
            </a:endParaRPr>
          </a:p>
        </p:txBody>
      </p:sp>
      <p:sp>
        <p:nvSpPr>
          <p:cNvPr id="4" name="Zástupný symbol čísla snímky 3"/>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p:cNvSpPr>
            <a:spLocks noGrp="1"/>
          </p:cNvSpPr>
          <p:nvPr>
            <p:ph type="title"/>
          </p:nvPr>
        </p:nvSpPr>
        <p:spPr>
          <a:xfrm>
            <a:off x="467547" y="877280"/>
            <a:ext cx="3008313" cy="968376"/>
          </a:xfrm>
        </p:spPr>
        <p:txBody>
          <a:bodyPr anchor="b"/>
          <a:lstStyle>
            <a:lvl1pPr algn="l">
              <a:defRPr sz="2000" b="1"/>
            </a:lvl1pPr>
          </a:lstStyle>
          <a:p>
            <a:r>
              <a:rPr lang="cs-CZ"/>
              <a:t>Kliknutím lze upravit styl.</a:t>
            </a:r>
            <a:endParaRPr lang="sk-SK" dirty="0"/>
          </a:p>
        </p:txBody>
      </p:sp>
      <p:sp>
        <p:nvSpPr>
          <p:cNvPr id="3" name="Zástupný symbol obsahu 2"/>
          <p:cNvSpPr>
            <a:spLocks noGrp="1"/>
          </p:cNvSpPr>
          <p:nvPr>
            <p:ph idx="1" hasCustomPrompt="1"/>
          </p:nvPr>
        </p:nvSpPr>
        <p:spPr>
          <a:xfrm>
            <a:off x="3575050" y="877281"/>
            <a:ext cx="5111750" cy="42278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dirty="0"/>
              <a:t> Kliknite sem a upravte štýly predlohy textu.</a:t>
            </a:r>
          </a:p>
          <a:p>
            <a:pPr lvl="1"/>
            <a:r>
              <a:rPr lang="sk-SK" dirty="0"/>
              <a:t> Druhá úroveň</a:t>
            </a:r>
          </a:p>
          <a:p>
            <a:pPr lvl="2"/>
            <a:r>
              <a:rPr lang="sk-SK" dirty="0"/>
              <a:t> Tretia úroveň</a:t>
            </a:r>
          </a:p>
          <a:p>
            <a:pPr lvl="3"/>
            <a:r>
              <a:rPr lang="sk-SK" dirty="0"/>
              <a:t> Štvrtá úroveň</a:t>
            </a:r>
          </a:p>
          <a:p>
            <a:pPr lvl="4"/>
            <a:r>
              <a:rPr lang="sk-SK" dirty="0"/>
              <a:t> Piata úroveň</a:t>
            </a:r>
          </a:p>
        </p:txBody>
      </p:sp>
      <p:sp>
        <p:nvSpPr>
          <p:cNvPr id="4" name="Zástupný symbol textu 3"/>
          <p:cNvSpPr>
            <a:spLocks noGrp="1"/>
          </p:cNvSpPr>
          <p:nvPr>
            <p:ph type="body" sz="half" idx="2"/>
          </p:nvPr>
        </p:nvSpPr>
        <p:spPr>
          <a:xfrm>
            <a:off x="457203" y="1897394"/>
            <a:ext cx="3008313" cy="320774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6" name="Zástupný symbol päty 5"/>
          <p:cNvSpPr>
            <a:spLocks noGrp="1"/>
          </p:cNvSpPr>
          <p:nvPr>
            <p:ph type="ftr" sz="quarter" idx="11"/>
          </p:nvPr>
        </p:nvSpPr>
        <p:spPr/>
        <p:txBody>
          <a:bodyPr/>
          <a:lstStyle/>
          <a:p>
            <a:r>
              <a:rPr lang="sk-SK"/>
              <a:t>urel@feec.vutbr.cz</a:t>
            </a:r>
          </a:p>
        </p:txBody>
      </p:sp>
      <p:sp>
        <p:nvSpPr>
          <p:cNvPr id="7" name="Zástupný symbol čísla snímky 6"/>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000500"/>
            <a:ext cx="5486400" cy="472283"/>
          </a:xfrm>
        </p:spPr>
        <p:txBody>
          <a:bodyPr anchor="b"/>
          <a:lstStyle>
            <a:lvl1pPr algn="l">
              <a:defRPr sz="2000" b="1"/>
            </a:lvl1pPr>
          </a:lstStyle>
          <a:p>
            <a:r>
              <a:rPr lang="cs-CZ"/>
              <a:t>Kliknutím lze upravit styl.</a:t>
            </a:r>
            <a:endParaRPr lang="sk-SK"/>
          </a:p>
        </p:txBody>
      </p:sp>
      <p:sp>
        <p:nvSpPr>
          <p:cNvPr id="3" name="Zástupný symbol obrázka 2"/>
          <p:cNvSpPr>
            <a:spLocks noGrp="1"/>
          </p:cNvSpPr>
          <p:nvPr>
            <p:ph type="pic" idx="1"/>
          </p:nvPr>
        </p:nvSpPr>
        <p:spPr>
          <a:xfrm>
            <a:off x="1792288" y="877282"/>
            <a:ext cx="5486400" cy="306236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sk-SK"/>
          </a:p>
        </p:txBody>
      </p:sp>
      <p:sp>
        <p:nvSpPr>
          <p:cNvPr id="4" name="Zástupný symbol textu 3"/>
          <p:cNvSpPr>
            <a:spLocks noGrp="1"/>
          </p:cNvSpPr>
          <p:nvPr>
            <p:ph type="body" sz="half" idx="2"/>
          </p:nvPr>
        </p:nvSpPr>
        <p:spPr>
          <a:xfrm>
            <a:off x="1792288" y="4472782"/>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6" name="Zástupný symbol päty 5"/>
          <p:cNvSpPr>
            <a:spLocks noGrp="1"/>
          </p:cNvSpPr>
          <p:nvPr>
            <p:ph type="ftr" sz="quarter" idx="11"/>
          </p:nvPr>
        </p:nvSpPr>
        <p:spPr/>
        <p:txBody>
          <a:bodyPr/>
          <a:lstStyle/>
          <a:p>
            <a:r>
              <a:rPr lang="sk-SK"/>
              <a:t>urel@feec.vutbr.cz</a:t>
            </a:r>
          </a:p>
        </p:txBody>
      </p:sp>
      <p:sp>
        <p:nvSpPr>
          <p:cNvPr id="7" name="Zástupný symbol čísla snímky 6"/>
          <p:cNvSpPr>
            <a:spLocks noGrp="1"/>
          </p:cNvSpPr>
          <p:nvPr>
            <p:ph type="sldNum" sz="quarter" idx="12"/>
          </p:nvPr>
        </p:nvSpPr>
        <p:spPr/>
        <p:txBody>
          <a:bodyPr/>
          <a:lstStyle/>
          <a:p>
            <a:fld id="{D86AE537-8D19-4AE7-8106-38E1909B856B}" type="slidenum">
              <a:rPr lang="sk-SK" smtClean="0"/>
              <a:pPr/>
              <a:t>‹#›</a:t>
            </a:fld>
            <a:endParaRPr lang="sk-SK"/>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Nadpis a zvislý text">
    <p:spTree>
      <p:nvGrpSpPr>
        <p:cNvPr id="1" name=""/>
        <p:cNvGrpSpPr/>
        <p:nvPr/>
      </p:nvGrpSpPr>
      <p:grpSpPr>
        <a:xfrm>
          <a:off x="0" y="0"/>
          <a:ext cx="0" cy="0"/>
          <a:chOff x="0" y="0"/>
          <a:chExt cx="0" cy="0"/>
        </a:xfrm>
      </p:grpSpPr>
      <p:sp>
        <p:nvSpPr>
          <p:cNvPr id="2" name="Nadpis 1"/>
          <p:cNvSpPr>
            <a:spLocks noGrp="1"/>
          </p:cNvSpPr>
          <p:nvPr>
            <p:ph type="title"/>
          </p:nvPr>
        </p:nvSpPr>
        <p:spPr>
          <a:xfrm rot="5400000">
            <a:off x="5796136" y="2367136"/>
            <a:ext cx="5715000" cy="980728"/>
          </a:xfrm>
        </p:spPr>
        <p:txBody>
          <a:bodyPr/>
          <a:lstStyle/>
          <a:p>
            <a:r>
              <a:rPr lang="cs-CZ"/>
              <a:t>Kliknutím lze upravit styl.</a:t>
            </a:r>
            <a:endParaRPr lang="sk-SK"/>
          </a:p>
        </p:txBody>
      </p:sp>
      <p:sp>
        <p:nvSpPr>
          <p:cNvPr id="3" name="Zástupný symbol zvislého textu 2"/>
          <p:cNvSpPr>
            <a:spLocks noGrp="1"/>
          </p:cNvSpPr>
          <p:nvPr>
            <p:ph type="body" orient="vert" idx="1" hasCustomPrompt="1"/>
          </p:nvPr>
        </p:nvSpPr>
        <p:spPr>
          <a:xfrm>
            <a:off x="971600" y="397228"/>
            <a:ext cx="7056784" cy="4707909"/>
          </a:xfrm>
        </p:spPr>
        <p:txBody>
          <a:bodyPr vert="eaVert"/>
          <a:lstStyle>
            <a:lvl1pPr>
              <a:defRPr/>
            </a:lvl1pPr>
            <a:lvl2pPr>
              <a:defRPr/>
            </a:lvl2pPr>
            <a:lvl3pPr>
              <a:defRPr/>
            </a:lvl3pPr>
            <a:lvl4pPr>
              <a:defRPr/>
            </a:lvl4pPr>
            <a:lvl5pPr>
              <a:defRPr/>
            </a:lvl5pPr>
          </a:lstStyle>
          <a:p>
            <a:pPr lvl="0"/>
            <a:r>
              <a:rPr lang="sk-SK" dirty="0"/>
              <a:t> Kliknite sem a upravte štýly predlohy textu.</a:t>
            </a:r>
          </a:p>
          <a:p>
            <a:pPr lvl="1"/>
            <a:r>
              <a:rPr lang="sk-SK" dirty="0"/>
              <a:t> Druhá úroveň</a:t>
            </a:r>
          </a:p>
          <a:p>
            <a:pPr lvl="2"/>
            <a:r>
              <a:rPr lang="sk-SK" dirty="0"/>
              <a:t> Tretia úroveň</a:t>
            </a:r>
          </a:p>
          <a:p>
            <a:pPr lvl="3"/>
            <a:r>
              <a:rPr lang="sk-SK" dirty="0"/>
              <a:t> Štvrtá úroveň</a:t>
            </a:r>
          </a:p>
          <a:p>
            <a:pPr lvl="4"/>
            <a:r>
              <a:rPr lang="sk-SK" dirty="0"/>
              <a:t> Piata úroveň</a:t>
            </a:r>
          </a:p>
        </p:txBody>
      </p:sp>
      <p:sp>
        <p:nvSpPr>
          <p:cNvPr id="5" name="Zástupný symbol päty 4"/>
          <p:cNvSpPr>
            <a:spLocks noGrp="1"/>
          </p:cNvSpPr>
          <p:nvPr>
            <p:ph type="ftr" sz="quarter" idx="11"/>
          </p:nvPr>
        </p:nvSpPr>
        <p:spPr>
          <a:xfrm rot="5400000">
            <a:off x="-916433" y="2741313"/>
            <a:ext cx="2413000" cy="365125"/>
          </a:xfrm>
        </p:spPr>
        <p:txBody>
          <a:bodyPr/>
          <a:lstStyle/>
          <a:p>
            <a:r>
              <a:rPr lang="sk-SK" dirty="0" err="1">
                <a:solidFill>
                  <a:srgbClr val="004E9B"/>
                </a:solidFill>
              </a:rPr>
              <a:t>urel@feec.vutbr.cz</a:t>
            </a:r>
            <a:endParaRPr lang="sk-SK" dirty="0">
              <a:solidFill>
                <a:srgbClr val="004E9B"/>
              </a:solidFill>
            </a:endParaRPr>
          </a:p>
        </p:txBody>
      </p:sp>
      <p:sp>
        <p:nvSpPr>
          <p:cNvPr id="6" name="Zástupný symbol čísla snímky 5"/>
          <p:cNvSpPr>
            <a:spLocks noGrp="1"/>
          </p:cNvSpPr>
          <p:nvPr>
            <p:ph type="sldNum" sz="quarter" idx="12"/>
          </p:nvPr>
        </p:nvSpPr>
        <p:spPr>
          <a:xfrm rot="5400000">
            <a:off x="-358908" y="4764073"/>
            <a:ext cx="1297947" cy="365125"/>
          </a:xfrm>
        </p:spPr>
        <p:txBody>
          <a:bodyPr/>
          <a:lstStyle/>
          <a:p>
            <a:fld id="{D86AE537-8D19-4AE7-8106-38E1909B856B}" type="slidenum">
              <a:rPr lang="sk-SK" smtClean="0"/>
              <a:pPr/>
              <a:t>‹#›</a:t>
            </a:fld>
            <a:endParaRPr lang="sk-SK"/>
          </a:p>
        </p:txBody>
      </p:sp>
      <p:pic>
        <p:nvPicPr>
          <p:cNvPr id="9" name="Graphic 9">
            <a:extLst>
              <a:ext uri="{FF2B5EF4-FFF2-40B4-BE49-F238E27FC236}">
                <a16:creationId xmlns:a16="http://schemas.microsoft.com/office/drawing/2014/main" id="{891CA170-942D-475A-8A14-E479C7FE74B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569568" y="712472"/>
            <a:ext cx="1741979" cy="387837"/>
          </a:xfrm>
          <a:prstGeom prst="rect">
            <a:avLst/>
          </a:prstGeom>
        </p:spPr>
      </p:pic>
      <p:pic>
        <p:nvPicPr>
          <p:cNvPr id="11" name="Picture 3" descr="A picture containing player&#10;&#10;Description automatically generated">
            <a:extLst>
              <a:ext uri="{FF2B5EF4-FFF2-40B4-BE49-F238E27FC236}">
                <a16:creationId xmlns:a16="http://schemas.microsoft.com/office/drawing/2014/main" id="{2AE40175-4535-4253-9183-B7F5D7831A0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295" t="21280" r="4259" b="38810"/>
          <a:stretch/>
        </p:blipFill>
        <p:spPr>
          <a:xfrm rot="5400000">
            <a:off x="5848370" y="2419371"/>
            <a:ext cx="5714998" cy="876261"/>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Zvislý nadpis a text">
    <p:spTree>
      <p:nvGrpSpPr>
        <p:cNvPr id="1" name=""/>
        <p:cNvGrpSpPr/>
        <p:nvPr/>
      </p:nvGrpSpPr>
      <p:grpSpPr>
        <a:xfrm>
          <a:off x="0" y="0"/>
          <a:ext cx="0" cy="0"/>
          <a:chOff x="0" y="0"/>
          <a:chExt cx="0" cy="0"/>
        </a:xfrm>
      </p:grpSpPr>
      <p:sp>
        <p:nvSpPr>
          <p:cNvPr id="2" name="Zvislý nadpis 1"/>
          <p:cNvSpPr>
            <a:spLocks noGrp="1"/>
          </p:cNvSpPr>
          <p:nvPr>
            <p:ph type="title" orient="vert"/>
          </p:nvPr>
        </p:nvSpPr>
        <p:spPr>
          <a:xfrm>
            <a:off x="6629400" y="397228"/>
            <a:ext cx="1398984" cy="4707909"/>
          </a:xfrm>
        </p:spPr>
        <p:txBody>
          <a:bodyPr vert="eaVert"/>
          <a:lstStyle/>
          <a:p>
            <a:r>
              <a:rPr lang="cs-CZ"/>
              <a:t>Kliknutím lze upravit styl.</a:t>
            </a:r>
            <a:endParaRPr lang="sk-SK"/>
          </a:p>
        </p:txBody>
      </p:sp>
      <p:sp>
        <p:nvSpPr>
          <p:cNvPr id="3" name="Zástupný symbol zvislého textu 2"/>
          <p:cNvSpPr>
            <a:spLocks noGrp="1"/>
          </p:cNvSpPr>
          <p:nvPr>
            <p:ph type="body" orient="vert" idx="1" hasCustomPrompt="1"/>
          </p:nvPr>
        </p:nvSpPr>
        <p:spPr>
          <a:xfrm>
            <a:off x="899592" y="397228"/>
            <a:ext cx="5577408" cy="4707909"/>
          </a:xfrm>
        </p:spPr>
        <p:txBody>
          <a:bodyPr vert="eaVert"/>
          <a:lstStyle>
            <a:lvl1pPr>
              <a:defRPr/>
            </a:lvl1pPr>
            <a:lvl2pPr>
              <a:defRPr/>
            </a:lvl2pPr>
            <a:lvl3pPr>
              <a:defRPr/>
            </a:lvl3pPr>
            <a:lvl4pPr>
              <a:defRPr/>
            </a:lvl4pPr>
            <a:lvl5pPr>
              <a:defRPr/>
            </a:lvl5pPr>
          </a:lstStyle>
          <a:p>
            <a:pPr lvl="0"/>
            <a:r>
              <a:rPr lang="sk-SK" dirty="0"/>
              <a:t> Kliknite sem a upravte štýly predlohy textu.</a:t>
            </a:r>
          </a:p>
          <a:p>
            <a:pPr lvl="1"/>
            <a:r>
              <a:rPr lang="sk-SK" dirty="0"/>
              <a:t> Druhá úroveň</a:t>
            </a:r>
          </a:p>
          <a:p>
            <a:pPr lvl="2"/>
            <a:r>
              <a:rPr lang="sk-SK" dirty="0"/>
              <a:t> Tretia úroveň</a:t>
            </a:r>
          </a:p>
          <a:p>
            <a:pPr lvl="3"/>
            <a:r>
              <a:rPr lang="sk-SK" dirty="0"/>
              <a:t> Štvrtá úroveň</a:t>
            </a:r>
          </a:p>
          <a:p>
            <a:pPr lvl="4"/>
            <a:r>
              <a:rPr lang="sk-SK" dirty="0"/>
              <a:t> Piata úroveň</a:t>
            </a:r>
          </a:p>
        </p:txBody>
      </p:sp>
      <p:sp>
        <p:nvSpPr>
          <p:cNvPr id="5" name="Zástupný symbol päty 4"/>
          <p:cNvSpPr>
            <a:spLocks noGrp="1"/>
          </p:cNvSpPr>
          <p:nvPr>
            <p:ph type="ftr" sz="quarter" idx="11"/>
          </p:nvPr>
        </p:nvSpPr>
        <p:spPr>
          <a:xfrm rot="5400000">
            <a:off x="-916433" y="2861326"/>
            <a:ext cx="2413000" cy="365125"/>
          </a:xfrm>
        </p:spPr>
        <p:txBody>
          <a:bodyPr/>
          <a:lstStyle/>
          <a:p>
            <a:r>
              <a:rPr lang="sk-SK" dirty="0" err="1">
                <a:solidFill>
                  <a:srgbClr val="004E9B"/>
                </a:solidFill>
              </a:rPr>
              <a:t>urel@feec.vutbr.cz</a:t>
            </a:r>
            <a:endParaRPr lang="sk-SK" dirty="0">
              <a:solidFill>
                <a:srgbClr val="004E9B"/>
              </a:solidFill>
            </a:endParaRPr>
          </a:p>
        </p:txBody>
      </p:sp>
      <p:sp>
        <p:nvSpPr>
          <p:cNvPr id="6" name="Zástupný symbol čísla snímky 5"/>
          <p:cNvSpPr>
            <a:spLocks noGrp="1"/>
          </p:cNvSpPr>
          <p:nvPr>
            <p:ph type="sldNum" sz="quarter" idx="12"/>
          </p:nvPr>
        </p:nvSpPr>
        <p:spPr>
          <a:xfrm rot="5400000">
            <a:off x="-273983" y="4794076"/>
            <a:ext cx="1117927" cy="365125"/>
          </a:xfrm>
        </p:spPr>
        <p:txBody>
          <a:bodyPr/>
          <a:lstStyle/>
          <a:p>
            <a:fld id="{D86AE537-8D19-4AE7-8106-38E1909B856B}" type="slidenum">
              <a:rPr lang="sk-SK" smtClean="0"/>
              <a:pPr/>
              <a:t>‹#›</a:t>
            </a:fld>
            <a:endParaRPr lang="sk-SK"/>
          </a:p>
        </p:txBody>
      </p:sp>
      <p:pic>
        <p:nvPicPr>
          <p:cNvPr id="10" name="Graphic 9">
            <a:extLst>
              <a:ext uri="{FF2B5EF4-FFF2-40B4-BE49-F238E27FC236}">
                <a16:creationId xmlns:a16="http://schemas.microsoft.com/office/drawing/2014/main" id="{891CA170-942D-475A-8A14-E479C7FE74B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569568" y="712472"/>
            <a:ext cx="1741979" cy="387837"/>
          </a:xfrm>
          <a:prstGeom prst="rect">
            <a:avLst/>
          </a:prstGeom>
        </p:spPr>
      </p:pic>
      <p:pic>
        <p:nvPicPr>
          <p:cNvPr id="11" name="Picture 3" descr="A picture containing player&#10;&#10;Description automatically generated">
            <a:extLst>
              <a:ext uri="{FF2B5EF4-FFF2-40B4-BE49-F238E27FC236}">
                <a16:creationId xmlns:a16="http://schemas.microsoft.com/office/drawing/2014/main" id="{2AE40175-4535-4253-9183-B7F5D7831A0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3295" t="21280" r="4259" b="38810"/>
          <a:stretch/>
        </p:blipFill>
        <p:spPr>
          <a:xfrm rot="5400000">
            <a:off x="5848370" y="2419371"/>
            <a:ext cx="5714998" cy="876261"/>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2" name="Nadpis 1"/>
          <p:cNvSpPr>
            <a:spLocks noGrp="1"/>
          </p:cNvSpPr>
          <p:nvPr>
            <p:ph type="title" hasCustomPrompt="1"/>
          </p:nvPr>
        </p:nvSpPr>
        <p:spPr/>
        <p:txBody>
          <a:bodyPr/>
          <a:lstStyle>
            <a:lvl1pPr>
              <a:defRPr/>
            </a:lvl1pPr>
          </a:lstStyle>
          <a:p>
            <a:r>
              <a:rPr lang="sk-SK" dirty="0"/>
              <a:t>Contact</a:t>
            </a:r>
          </a:p>
        </p:txBody>
      </p:sp>
      <p:sp>
        <p:nvSpPr>
          <p:cNvPr id="3" name="Zástupný symbol päty 2"/>
          <p:cNvSpPr>
            <a:spLocks noGrp="1"/>
          </p:cNvSpPr>
          <p:nvPr>
            <p:ph type="ftr" sz="quarter" idx="10"/>
          </p:nvPr>
        </p:nvSpPr>
        <p:spPr/>
        <p:txBody>
          <a:bodyPr/>
          <a:lstStyle/>
          <a:p>
            <a:r>
              <a:rPr lang="sk-SK" dirty="0" err="1">
                <a:solidFill>
                  <a:srgbClr val="004E9B"/>
                </a:solidFill>
              </a:rPr>
              <a:t>urel@feec.vutbr.cz</a:t>
            </a:r>
            <a:endParaRPr lang="sk-SK" dirty="0">
              <a:solidFill>
                <a:srgbClr val="004E9B"/>
              </a:solidFill>
            </a:endParaRPr>
          </a:p>
        </p:txBody>
      </p:sp>
      <p:sp>
        <p:nvSpPr>
          <p:cNvPr id="4" name="Zástupný symbol čísla snímky 3"/>
          <p:cNvSpPr>
            <a:spLocks noGrp="1"/>
          </p:cNvSpPr>
          <p:nvPr>
            <p:ph type="sldNum" sz="quarter" idx="11"/>
          </p:nvPr>
        </p:nvSpPr>
        <p:spPr/>
        <p:txBody>
          <a:bodyPr/>
          <a:lstStyle/>
          <a:p>
            <a:fld id="{D86AE537-8D19-4AE7-8106-38E1909B856B}" type="slidenum">
              <a:rPr lang="sk-SK" smtClean="0"/>
              <a:pPr/>
              <a:t>‹#›</a:t>
            </a:fld>
            <a:endParaRPr lang="sk-SK" dirty="0"/>
          </a:p>
        </p:txBody>
      </p:sp>
      <p:sp>
        <p:nvSpPr>
          <p:cNvPr id="8" name="Zástupný symbol textu 7"/>
          <p:cNvSpPr>
            <a:spLocks noGrp="1"/>
          </p:cNvSpPr>
          <p:nvPr>
            <p:ph type="body" sz="quarter" idx="12" hasCustomPrompt="1"/>
          </p:nvPr>
        </p:nvSpPr>
        <p:spPr>
          <a:xfrm>
            <a:off x="2411760" y="2281436"/>
            <a:ext cx="4176464" cy="540123"/>
          </a:xfrm>
        </p:spPr>
        <p:txBody>
          <a:bodyPr>
            <a:normAutofit/>
          </a:bodyPr>
          <a:lstStyle>
            <a:lvl1pPr algn="ctr">
              <a:buNone/>
              <a:defRPr sz="2800" baseline="0">
                <a:solidFill>
                  <a:srgbClr val="004E9B"/>
                </a:solidFill>
              </a:defRPr>
            </a:lvl1pPr>
          </a:lstStyle>
          <a:p>
            <a:pPr lvl="0"/>
            <a:r>
              <a:rPr lang="sk-SK" dirty="0"/>
              <a:t>email@feec.vutbr.cz</a:t>
            </a:r>
          </a:p>
        </p:txBody>
      </p:sp>
      <p:sp>
        <p:nvSpPr>
          <p:cNvPr id="9" name="Zástupný symbol textu 7"/>
          <p:cNvSpPr>
            <a:spLocks noGrp="1"/>
          </p:cNvSpPr>
          <p:nvPr>
            <p:ph type="body" sz="quarter" idx="13" hasCustomPrompt="1"/>
          </p:nvPr>
        </p:nvSpPr>
        <p:spPr>
          <a:xfrm>
            <a:off x="683568" y="997294"/>
            <a:ext cx="4968552" cy="540123"/>
          </a:xfrm>
        </p:spPr>
        <p:txBody>
          <a:bodyPr>
            <a:normAutofit/>
          </a:bodyPr>
          <a:lstStyle>
            <a:lvl1pPr>
              <a:buNone/>
              <a:defRPr sz="2000" baseline="0">
                <a:solidFill>
                  <a:srgbClr val="004E9B"/>
                </a:solidFill>
                <a:latin typeface="Abadi" panose="020B0604020104020204" pitchFamily="34" charset="0"/>
              </a:defRPr>
            </a:lvl1pPr>
          </a:lstStyle>
          <a:p>
            <a:pPr lvl="0"/>
            <a:r>
              <a:rPr lang="sk-SK" dirty="0"/>
              <a:t>Name, </a:t>
            </a:r>
            <a:r>
              <a:rPr lang="sk-SK" dirty="0" err="1"/>
              <a:t>surname</a:t>
            </a:r>
            <a:endParaRPr lang="sk-SK" dirty="0"/>
          </a:p>
        </p:txBody>
      </p:sp>
      <p:sp>
        <p:nvSpPr>
          <p:cNvPr id="10" name="Zástupný symbol textu 7"/>
          <p:cNvSpPr>
            <a:spLocks noGrp="1"/>
          </p:cNvSpPr>
          <p:nvPr>
            <p:ph type="body" sz="quarter" idx="14" hasCustomPrompt="1"/>
          </p:nvPr>
        </p:nvSpPr>
        <p:spPr>
          <a:xfrm>
            <a:off x="755576" y="3217540"/>
            <a:ext cx="6048672" cy="1800200"/>
          </a:xfrm>
        </p:spPr>
        <p:txBody>
          <a:bodyPr>
            <a:normAutofit/>
          </a:bodyPr>
          <a:lstStyle>
            <a:lvl1pPr marL="361950" indent="-361950">
              <a:spcAft>
                <a:spcPct val="50000"/>
              </a:spcAft>
              <a:buFont typeface="Wingdings" pitchFamily="2" charset="2"/>
              <a:buNone/>
              <a:defRPr sz="2800" baseline="0">
                <a:solidFill>
                  <a:srgbClr val="004E9B"/>
                </a:solidFill>
              </a:defRPr>
            </a:lvl1pPr>
          </a:lstStyle>
          <a:p>
            <a:pPr marL="361950" indent="-361950">
              <a:spcAft>
                <a:spcPct val="50000"/>
              </a:spcAft>
              <a:buFont typeface="Wingdings" pitchFamily="2" charset="2"/>
              <a:buNone/>
            </a:pPr>
            <a:r>
              <a:rPr lang="cs-CZ" sz="2000" dirty="0" err="1"/>
              <a:t>Address</a:t>
            </a:r>
            <a:endParaRPr lang="cs-CZ" sz="20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3" descr="A picture containing player&#10;&#10;Description automatically generated">
            <a:extLst>
              <a:ext uri="{FF2B5EF4-FFF2-40B4-BE49-F238E27FC236}">
                <a16:creationId xmlns:a16="http://schemas.microsoft.com/office/drawing/2014/main" id="{2AE40175-4535-4253-9183-B7F5D7831A05}"/>
              </a:ext>
            </a:extLst>
          </p:cNvPr>
          <p:cNvPicPr>
            <a:picLocks noChangeAspect="1"/>
          </p:cNvPicPr>
          <p:nvPr/>
        </p:nvPicPr>
        <p:blipFill rotWithShape="1">
          <a:blip r:embed="rId14">
            <a:extLst>
              <a:ext uri="{28A0092B-C50C-407E-A947-70E740481C1C}">
                <a14:useLocalDpi xmlns:a14="http://schemas.microsoft.com/office/drawing/2010/main" val="0"/>
              </a:ext>
            </a:extLst>
          </a:blip>
          <a:srcRect t="21280" b="38810"/>
          <a:stretch/>
        </p:blipFill>
        <p:spPr>
          <a:xfrm>
            <a:off x="0" y="-22821"/>
            <a:ext cx="9151888" cy="876261"/>
          </a:xfrm>
          <a:prstGeom prst="rect">
            <a:avLst/>
          </a:prstGeom>
        </p:spPr>
      </p:pic>
      <p:sp>
        <p:nvSpPr>
          <p:cNvPr id="2" name="Zástupný symbol nadpisu 1"/>
          <p:cNvSpPr>
            <a:spLocks noGrp="1"/>
          </p:cNvSpPr>
          <p:nvPr>
            <p:ph type="title"/>
          </p:nvPr>
        </p:nvSpPr>
        <p:spPr>
          <a:xfrm>
            <a:off x="0" y="0"/>
            <a:ext cx="9144000" cy="817273"/>
          </a:xfrm>
          <a:prstGeom prst="rect">
            <a:avLst/>
          </a:prstGeom>
        </p:spPr>
        <p:txBody>
          <a:bodyPr vert="horz" lIns="91440" tIns="45720" rIns="91440" bIns="45720" rtlCol="0" anchor="ctr">
            <a:normAutofit/>
          </a:bodyPr>
          <a:lstStyle/>
          <a:p>
            <a:r>
              <a:rPr lang="sk-SK" dirty="0"/>
              <a:t>Kliknite sem a upravte štýl predlohy nadpisov.</a:t>
            </a:r>
          </a:p>
        </p:txBody>
      </p:sp>
      <p:sp>
        <p:nvSpPr>
          <p:cNvPr id="3" name="Zástupný symbol textu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sk-SK" dirty="0"/>
              <a:t> Kliknite sem a upravte štýly predlohy textu.</a:t>
            </a:r>
          </a:p>
          <a:p>
            <a:pPr lvl="1"/>
            <a:r>
              <a:rPr lang="sk-SK" dirty="0"/>
              <a:t> Druhá úroveň</a:t>
            </a:r>
          </a:p>
          <a:p>
            <a:pPr lvl="2"/>
            <a:r>
              <a:rPr lang="sk-SK" dirty="0"/>
              <a:t> Tretia úroveň</a:t>
            </a:r>
          </a:p>
          <a:p>
            <a:pPr lvl="3"/>
            <a:r>
              <a:rPr lang="sk-SK" dirty="0"/>
              <a:t> Štvrtá úroveň</a:t>
            </a:r>
          </a:p>
          <a:p>
            <a:pPr lvl="4"/>
            <a:r>
              <a:rPr lang="sk-SK" dirty="0"/>
              <a:t> Piata úroveň</a:t>
            </a:r>
          </a:p>
        </p:txBody>
      </p:sp>
      <p:sp>
        <p:nvSpPr>
          <p:cNvPr id="5" name="Zástupný symbol päty 4"/>
          <p:cNvSpPr>
            <a:spLocks noGrp="1"/>
          </p:cNvSpPr>
          <p:nvPr>
            <p:ph type="ftr" sz="quarter" idx="3"/>
          </p:nvPr>
        </p:nvSpPr>
        <p:spPr>
          <a:xfrm>
            <a:off x="3124200" y="5296960"/>
            <a:ext cx="2895600" cy="304271"/>
          </a:xfrm>
          <a:prstGeom prst="rect">
            <a:avLst/>
          </a:prstGeom>
        </p:spPr>
        <p:txBody>
          <a:bodyPr vert="horz" lIns="91440" tIns="45720" rIns="91440" bIns="45720" rtlCol="0" anchor="ctr"/>
          <a:lstStyle>
            <a:lvl1pPr algn="ctr">
              <a:defRPr sz="1200">
                <a:solidFill>
                  <a:schemeClr val="tx1">
                    <a:tint val="75000"/>
                  </a:schemeClr>
                </a:solidFill>
                <a:latin typeface="Abadi" panose="020F0502020204030204" pitchFamily="34" charset="0"/>
              </a:defRPr>
            </a:lvl1pPr>
          </a:lstStyle>
          <a:p>
            <a:r>
              <a:rPr lang="sk-SK" dirty="0">
                <a:solidFill>
                  <a:srgbClr val="004E9B"/>
                </a:solidFill>
              </a:rPr>
              <a:t>urel@feec.vutbr.cz</a:t>
            </a:r>
          </a:p>
        </p:txBody>
      </p:sp>
      <p:sp>
        <p:nvSpPr>
          <p:cNvPr id="6" name="Zástupný symbol čísla snímky 5"/>
          <p:cNvSpPr>
            <a:spLocks noGrp="1"/>
          </p:cNvSpPr>
          <p:nvPr>
            <p:ph type="sldNum" sz="quarter" idx="4"/>
          </p:nvPr>
        </p:nvSpPr>
        <p:spPr>
          <a:xfrm>
            <a:off x="6553200" y="5296960"/>
            <a:ext cx="2133600" cy="304271"/>
          </a:xfrm>
          <a:prstGeom prst="rect">
            <a:avLst/>
          </a:prstGeom>
        </p:spPr>
        <p:txBody>
          <a:bodyPr vert="horz" lIns="91440" tIns="45720" rIns="91440" bIns="45720" rtlCol="0" anchor="ctr"/>
          <a:lstStyle>
            <a:lvl1pPr algn="r">
              <a:defRPr sz="1200">
                <a:solidFill>
                  <a:srgbClr val="004E9B"/>
                </a:solidFill>
                <a:latin typeface="Abadi" panose="020F0502020204030204" pitchFamily="34" charset="0"/>
              </a:defRPr>
            </a:lvl1pPr>
          </a:lstStyle>
          <a:p>
            <a:fld id="{D86AE537-8D19-4AE7-8106-38E1909B856B}" type="slidenum">
              <a:rPr lang="sk-SK" smtClean="0"/>
              <a:pPr/>
              <a:t>‹#›</a:t>
            </a:fld>
            <a:endParaRPr lang="sk-SK" dirty="0"/>
          </a:p>
        </p:txBody>
      </p:sp>
      <p:pic>
        <p:nvPicPr>
          <p:cNvPr id="9" name="Graphic 9">
            <a:extLst>
              <a:ext uri="{FF2B5EF4-FFF2-40B4-BE49-F238E27FC236}">
                <a16:creationId xmlns:a16="http://schemas.microsoft.com/office/drawing/2014/main" id="{891CA170-942D-475A-8A14-E479C7FE74B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9513" y="5183844"/>
            <a:ext cx="1872207" cy="416831"/>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hdr="0" dt="0"/>
  <p:txStyles>
    <p:titleStyle>
      <a:lvl1pPr marL="360000" algn="l" defTabSz="914400" rtl="0" eaLnBrk="1" latinLnBrk="0" hangingPunct="1">
        <a:spcBef>
          <a:spcPct val="0"/>
        </a:spcBef>
        <a:buNone/>
        <a:defRPr sz="2000" b="1" kern="1200" baseline="0">
          <a:solidFill>
            <a:schemeClr val="bg1"/>
          </a:solidFill>
          <a:latin typeface="Abadi" panose="020B0604020104020204" pitchFamily="34" charset="0"/>
          <a:ea typeface="+mj-ea"/>
          <a:cs typeface="+mj-cs"/>
        </a:defRPr>
      </a:lvl1pPr>
    </p:titleStyle>
    <p:bodyStyle>
      <a:lvl1pPr marL="342900" indent="-342900" algn="l" defTabSz="914400" rtl="0" eaLnBrk="1" latinLnBrk="0" hangingPunct="1">
        <a:spcBef>
          <a:spcPct val="20000"/>
        </a:spcBef>
        <a:buFont typeface="Wingdings" pitchFamily="2" charset="2"/>
        <a:buChar char="§"/>
        <a:defRPr sz="3200" kern="1200">
          <a:solidFill>
            <a:schemeClr val="tx1"/>
          </a:solidFill>
          <a:latin typeface="Abadi" panose="020F0502020204030204" pitchFamily="34" charset="0"/>
          <a:ea typeface="+mn-ea"/>
          <a:cs typeface="+mn-cs"/>
        </a:defRPr>
      </a:lvl1pPr>
      <a:lvl2pPr marL="742950" indent="-285750" algn="l" defTabSz="914400" rtl="0" eaLnBrk="1" latinLnBrk="0" hangingPunct="1">
        <a:spcBef>
          <a:spcPct val="20000"/>
        </a:spcBef>
        <a:buFont typeface="Wingdings" pitchFamily="2" charset="2"/>
        <a:buChar char="§"/>
        <a:defRPr sz="2800" kern="1200">
          <a:solidFill>
            <a:schemeClr val="tx1"/>
          </a:solidFill>
          <a:latin typeface="Abadi" panose="020F0502020204030204" pitchFamily="34" charset="0"/>
          <a:ea typeface="+mn-ea"/>
          <a:cs typeface="+mn-cs"/>
        </a:defRPr>
      </a:lvl2pPr>
      <a:lvl3pPr marL="1143000" indent="-228600" algn="l" defTabSz="914400" rtl="0" eaLnBrk="1" latinLnBrk="0" hangingPunct="1">
        <a:spcBef>
          <a:spcPct val="20000"/>
        </a:spcBef>
        <a:buFont typeface="Wingdings" pitchFamily="2" charset="2"/>
        <a:buChar char="§"/>
        <a:defRPr sz="2400" kern="1200">
          <a:solidFill>
            <a:schemeClr val="tx1"/>
          </a:solidFill>
          <a:latin typeface="Abadi" panose="020F0502020204030204" pitchFamily="34" charset="0"/>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Abadi" panose="020F0502020204030204" pitchFamily="34" charset="0"/>
          <a:ea typeface="+mn-ea"/>
          <a:cs typeface="+mn-cs"/>
        </a:defRPr>
      </a:lvl4pPr>
      <a:lvl5pPr marL="2057400" indent="-228600" algn="l" defTabSz="914400" rtl="0" eaLnBrk="1" latinLnBrk="0" hangingPunct="1">
        <a:spcBef>
          <a:spcPct val="20000"/>
        </a:spcBef>
        <a:buFont typeface="Wingdings" pitchFamily="2" charset="2"/>
        <a:buChar char="§"/>
        <a:defRPr sz="2000" kern="1200">
          <a:solidFill>
            <a:schemeClr val="tx1"/>
          </a:solidFill>
          <a:latin typeface="Abadi" panose="020F05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text 1"/>
          <p:cNvSpPr>
            <a:spLocks noGrp="1"/>
          </p:cNvSpPr>
          <p:nvPr>
            <p:ph type="body" sz="quarter" idx="10"/>
          </p:nvPr>
        </p:nvSpPr>
        <p:spPr>
          <a:xfrm>
            <a:off x="683568" y="2137421"/>
            <a:ext cx="7848600" cy="1140126"/>
          </a:xfrm>
        </p:spPr>
        <p:txBody>
          <a:bodyPr/>
          <a:lstStyle/>
          <a:p>
            <a:r>
              <a:rPr lang="en-US" dirty="0">
                <a:latin typeface="+mj-lt"/>
              </a:rPr>
              <a:t>CNN for Radar-Based Occupancy Detection</a:t>
            </a:r>
          </a:p>
        </p:txBody>
      </p:sp>
      <p:sp>
        <p:nvSpPr>
          <p:cNvPr id="4" name="Zástupný symbol pro text 3"/>
          <p:cNvSpPr>
            <a:spLocks noGrp="1"/>
          </p:cNvSpPr>
          <p:nvPr>
            <p:ph type="body" sz="quarter" idx="12"/>
          </p:nvPr>
        </p:nvSpPr>
        <p:spPr>
          <a:xfrm>
            <a:off x="683568" y="3261854"/>
            <a:ext cx="7847583" cy="1140126"/>
          </a:xfrm>
        </p:spPr>
        <p:txBody>
          <a:bodyPr>
            <a:normAutofit fontScale="55000" lnSpcReduction="20000"/>
          </a:bodyPr>
          <a:lstStyle/>
          <a:p>
            <a:r>
              <a:rPr lang="en-US" sz="3500" dirty="0"/>
              <a:t>MPA-MLF</a:t>
            </a:r>
          </a:p>
          <a:p>
            <a:r>
              <a:rPr lang="en-US" sz="3500" dirty="0"/>
              <a:t>Vít </a:t>
            </a:r>
            <a:r>
              <a:rPr lang="en-US" sz="3500" dirty="0" err="1"/>
              <a:t>Charvátek</a:t>
            </a:r>
            <a:endParaRPr lang="en-US" sz="3500" dirty="0"/>
          </a:p>
          <a:p>
            <a:r>
              <a:rPr lang="en-US" sz="3500" dirty="0"/>
              <a:t>Lukáš Koňař</a:t>
            </a:r>
          </a:p>
          <a:p>
            <a:endParaRPr lang="en-US" dirty="0"/>
          </a:p>
        </p:txBody>
      </p:sp>
    </p:spTree>
    <p:extLst>
      <p:ext uri="{BB962C8B-B14F-4D97-AF65-F5344CB8AC3E}">
        <p14:creationId xmlns:p14="http://schemas.microsoft.com/office/powerpoint/2010/main" val="124271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sz="2400" dirty="0" err="1">
                <a:latin typeface="+mj-lt"/>
              </a:rPr>
              <a:t>Task</a:t>
            </a:r>
            <a:r>
              <a:rPr lang="cs-CZ" sz="2400" dirty="0">
                <a:latin typeface="+mj-lt"/>
              </a:rPr>
              <a:t> </a:t>
            </a:r>
            <a:r>
              <a:rPr lang="cs-CZ" sz="2400" dirty="0" err="1">
                <a:latin typeface="+mj-lt"/>
              </a:rPr>
              <a:t>challenges</a:t>
            </a:r>
            <a:r>
              <a:rPr lang="cs-CZ" sz="2400" dirty="0">
                <a:latin typeface="+mj-lt"/>
              </a:rPr>
              <a:t> </a:t>
            </a:r>
            <a:endParaRPr lang="en-US" sz="2400" dirty="0">
              <a:latin typeface="+mj-lt"/>
            </a:endParaRPr>
          </a:p>
        </p:txBody>
      </p:sp>
      <p:sp>
        <p:nvSpPr>
          <p:cNvPr id="3" name="Zástupný symbol pro obsah 2"/>
          <p:cNvSpPr>
            <a:spLocks noGrp="1"/>
          </p:cNvSpPr>
          <p:nvPr>
            <p:ph idx="1"/>
          </p:nvPr>
        </p:nvSpPr>
        <p:spPr>
          <a:xfrm>
            <a:off x="457200" y="1171298"/>
            <a:ext cx="8229600" cy="3771636"/>
          </a:xfrm>
        </p:spPr>
        <p:txBody>
          <a:bodyPr>
            <a:normAutofit fontScale="92500" lnSpcReduction="10000"/>
          </a:bodyPr>
          <a:lstStyle/>
          <a:p>
            <a:r>
              <a:rPr lang="en-US" dirty="0">
                <a:latin typeface="+mn-lt"/>
              </a:rPr>
              <a:t>Strong class imbalance </a:t>
            </a:r>
          </a:p>
          <a:p>
            <a:r>
              <a:rPr lang="en-US" dirty="0">
                <a:latin typeface="+mn-lt"/>
              </a:rPr>
              <a:t>Class 1 person was heavily overrepresented</a:t>
            </a:r>
          </a:p>
          <a:p>
            <a:r>
              <a:rPr lang="en-US" dirty="0">
                <a:latin typeface="+mn-lt"/>
              </a:rPr>
              <a:t>Class 3 people had very few samples</a:t>
            </a:r>
          </a:p>
          <a:p>
            <a:r>
              <a:rPr lang="en-US" dirty="0">
                <a:latin typeface="+mn-lt"/>
              </a:rPr>
              <a:t>Very small images with limited information</a:t>
            </a:r>
          </a:p>
          <a:p>
            <a:r>
              <a:rPr lang="en-US" dirty="0">
                <a:latin typeface="+mn-lt"/>
              </a:rPr>
              <a:t>High noise floor</a:t>
            </a:r>
          </a:p>
          <a:p>
            <a:r>
              <a:rPr lang="en-US" dirty="0">
                <a:latin typeface="+mn-lt"/>
              </a:rPr>
              <a:t>Artificial RGB colors</a:t>
            </a:r>
          </a:p>
          <a:p>
            <a:r>
              <a:rPr lang="en-US" dirty="0">
                <a:latin typeface="+mn-lt"/>
              </a:rPr>
              <a:t>Standard vision assumptions do not apply</a:t>
            </a:r>
          </a:p>
        </p:txBody>
      </p:sp>
      <p:sp>
        <p:nvSpPr>
          <p:cNvPr id="4" name="Zástupný symbol pro zápatí 3"/>
          <p:cNvSpPr>
            <a:spLocks noGrp="1"/>
          </p:cNvSpPr>
          <p:nvPr>
            <p:ph type="ftr" sz="quarter" idx="11"/>
          </p:nvPr>
        </p:nvSpPr>
        <p:spPr/>
        <p:txBody>
          <a:bodyPr/>
          <a:lstStyle/>
          <a:p>
            <a:endParaRPr lang="sk-SK" dirty="0"/>
          </a:p>
        </p:txBody>
      </p:sp>
      <p:sp>
        <p:nvSpPr>
          <p:cNvPr id="5" name="Zástupný symbol pro číslo snímku 4"/>
          <p:cNvSpPr>
            <a:spLocks noGrp="1"/>
          </p:cNvSpPr>
          <p:nvPr>
            <p:ph type="sldNum" sz="quarter" idx="12"/>
          </p:nvPr>
        </p:nvSpPr>
        <p:spPr/>
        <p:txBody>
          <a:bodyPr/>
          <a:lstStyle/>
          <a:p>
            <a:fld id="{D86AE537-8D19-4AE7-8106-38E1909B856B}" type="slidenum">
              <a:rPr lang="sk-SK" smtClean="0"/>
              <a:pPr/>
              <a:t>2</a:t>
            </a:fld>
            <a:endParaRPr lang="sk-SK"/>
          </a:p>
        </p:txBody>
      </p:sp>
    </p:spTree>
    <p:extLst>
      <p:ext uri="{BB962C8B-B14F-4D97-AF65-F5344CB8AC3E}">
        <p14:creationId xmlns:p14="http://schemas.microsoft.com/office/powerpoint/2010/main" val="19850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48BA89-2D47-C79B-0DA0-ACE2BE29B210}"/>
              </a:ext>
            </a:extLst>
          </p:cNvPr>
          <p:cNvSpPr>
            <a:spLocks noGrp="1"/>
          </p:cNvSpPr>
          <p:nvPr>
            <p:ph type="title"/>
          </p:nvPr>
        </p:nvSpPr>
        <p:spPr/>
        <p:txBody>
          <a:bodyPr>
            <a:normAutofit/>
          </a:bodyPr>
          <a:lstStyle/>
          <a:p>
            <a:r>
              <a:rPr lang="cs-CZ" sz="2400" dirty="0" err="1">
                <a:latin typeface="+mj-lt"/>
              </a:rPr>
              <a:t>Initial</a:t>
            </a:r>
            <a:r>
              <a:rPr lang="cs-CZ" sz="2400" dirty="0">
                <a:latin typeface="+mj-lt"/>
              </a:rPr>
              <a:t> </a:t>
            </a:r>
            <a:r>
              <a:rPr lang="cs-CZ" sz="2400" dirty="0" err="1">
                <a:latin typeface="+mj-lt"/>
              </a:rPr>
              <a:t>aproach</a:t>
            </a:r>
            <a:endParaRPr lang="cs-CZ" sz="2400" dirty="0">
              <a:latin typeface="+mj-lt"/>
            </a:endParaRPr>
          </a:p>
        </p:txBody>
      </p:sp>
      <p:sp>
        <p:nvSpPr>
          <p:cNvPr id="3" name="Zástupný obsah 2">
            <a:extLst>
              <a:ext uri="{FF2B5EF4-FFF2-40B4-BE49-F238E27FC236}">
                <a16:creationId xmlns:a16="http://schemas.microsoft.com/office/drawing/2014/main" id="{D411D646-E7EC-EF6A-911D-D89D1D403BA6}"/>
              </a:ext>
            </a:extLst>
          </p:cNvPr>
          <p:cNvSpPr>
            <a:spLocks noGrp="1"/>
          </p:cNvSpPr>
          <p:nvPr>
            <p:ph idx="1"/>
          </p:nvPr>
        </p:nvSpPr>
        <p:spPr/>
        <p:txBody>
          <a:bodyPr/>
          <a:lstStyle/>
          <a:p>
            <a:r>
              <a:rPr lang="en-US" dirty="0">
                <a:latin typeface="+mn-lt"/>
              </a:rPr>
              <a:t>Transfer learning (MobileNetV2)</a:t>
            </a:r>
          </a:p>
          <a:p>
            <a:r>
              <a:rPr lang="en-US" dirty="0">
                <a:latin typeface="+mn-lt"/>
              </a:rPr>
              <a:t>Upscaling images to 128 × 128</a:t>
            </a:r>
          </a:p>
          <a:p>
            <a:r>
              <a:rPr lang="en-US" dirty="0">
                <a:latin typeface="+mn-lt"/>
              </a:rPr>
              <a:t>Keeping RGB channels</a:t>
            </a:r>
          </a:p>
          <a:p>
            <a:r>
              <a:rPr lang="en-US" dirty="0">
                <a:latin typeface="+mn-lt"/>
              </a:rPr>
              <a:t>Standard computer vision pipeline</a:t>
            </a:r>
          </a:p>
          <a:p>
            <a:r>
              <a:rPr lang="en-US" dirty="0">
                <a:latin typeface="+mn-lt"/>
              </a:rPr>
              <a:t>Validation accuracy at about 41% </a:t>
            </a:r>
          </a:p>
          <a:p>
            <a:pPr marL="0" indent="0">
              <a:buNone/>
            </a:pPr>
            <a:endParaRPr lang="cs-CZ" dirty="0"/>
          </a:p>
        </p:txBody>
      </p:sp>
      <p:sp>
        <p:nvSpPr>
          <p:cNvPr id="4" name="Zástupný symbol pro zápatí 3">
            <a:extLst>
              <a:ext uri="{FF2B5EF4-FFF2-40B4-BE49-F238E27FC236}">
                <a16:creationId xmlns:a16="http://schemas.microsoft.com/office/drawing/2014/main" id="{42849652-D9B5-9B0E-4FD6-AAAF439F9F9F}"/>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683CC544-0316-6BA2-A4F7-697086455D1D}"/>
              </a:ext>
            </a:extLst>
          </p:cNvPr>
          <p:cNvSpPr>
            <a:spLocks noGrp="1"/>
          </p:cNvSpPr>
          <p:nvPr>
            <p:ph type="sldNum" sz="quarter" idx="12"/>
          </p:nvPr>
        </p:nvSpPr>
        <p:spPr/>
        <p:txBody>
          <a:bodyPr/>
          <a:lstStyle/>
          <a:p>
            <a:fld id="{D86AE537-8D19-4AE7-8106-38E1909B856B}" type="slidenum">
              <a:rPr lang="sk-SK" smtClean="0"/>
              <a:pPr/>
              <a:t>3</a:t>
            </a:fld>
            <a:endParaRPr lang="sk-SK"/>
          </a:p>
        </p:txBody>
      </p:sp>
    </p:spTree>
    <p:extLst>
      <p:ext uri="{BB962C8B-B14F-4D97-AF65-F5344CB8AC3E}">
        <p14:creationId xmlns:p14="http://schemas.microsoft.com/office/powerpoint/2010/main" val="50174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89E4AB1-361D-6559-907B-7775905737D1}"/>
              </a:ext>
            </a:extLst>
          </p:cNvPr>
          <p:cNvSpPr>
            <a:spLocks noGrp="1"/>
          </p:cNvSpPr>
          <p:nvPr>
            <p:ph type="title"/>
          </p:nvPr>
        </p:nvSpPr>
        <p:spPr/>
        <p:txBody>
          <a:bodyPr>
            <a:normAutofit/>
          </a:bodyPr>
          <a:lstStyle/>
          <a:p>
            <a:r>
              <a:rPr lang="cs-CZ" sz="2400" dirty="0">
                <a:latin typeface="+mj-lt"/>
              </a:rPr>
              <a:t>Data Fix</a:t>
            </a:r>
          </a:p>
        </p:txBody>
      </p:sp>
      <p:sp>
        <p:nvSpPr>
          <p:cNvPr id="3" name="Zástupný obsah 2">
            <a:extLst>
              <a:ext uri="{FF2B5EF4-FFF2-40B4-BE49-F238E27FC236}">
                <a16:creationId xmlns:a16="http://schemas.microsoft.com/office/drawing/2014/main" id="{3E4C5616-AC7B-521F-1ECC-727222C2B483}"/>
              </a:ext>
            </a:extLst>
          </p:cNvPr>
          <p:cNvSpPr>
            <a:spLocks noGrp="1"/>
          </p:cNvSpPr>
          <p:nvPr>
            <p:ph idx="1"/>
          </p:nvPr>
        </p:nvSpPr>
        <p:spPr/>
        <p:txBody>
          <a:bodyPr/>
          <a:lstStyle/>
          <a:p>
            <a:r>
              <a:rPr lang="en-US" dirty="0">
                <a:latin typeface="+mn-lt"/>
              </a:rPr>
              <a:t>CSV labels started from 0 </a:t>
            </a:r>
          </a:p>
          <a:p>
            <a:r>
              <a:rPr lang="en-US" dirty="0">
                <a:latin typeface="+mn-lt"/>
              </a:rPr>
              <a:t>Image filenames started from 1</a:t>
            </a:r>
          </a:p>
          <a:p>
            <a:r>
              <a:rPr lang="en-US" dirty="0">
                <a:latin typeface="+mn-lt"/>
              </a:rPr>
              <a:t>We corrected the mismatch </a:t>
            </a:r>
            <a:r>
              <a:rPr lang="cs-CZ" dirty="0">
                <a:latin typeface="+mn-lt"/>
              </a:rPr>
              <a:t>data </a:t>
            </a:r>
            <a:r>
              <a:rPr lang="en-US" dirty="0">
                <a:latin typeface="+mn-lt"/>
              </a:rPr>
              <a:t>loader</a:t>
            </a:r>
          </a:p>
          <a:p>
            <a:r>
              <a:rPr lang="en-US" dirty="0">
                <a:latin typeface="+mn-lt"/>
              </a:rPr>
              <a:t>Standard computer vision pipeline was still unusable</a:t>
            </a:r>
          </a:p>
          <a:p>
            <a:endParaRPr lang="cs-CZ" dirty="0">
              <a:latin typeface="+mn-lt"/>
            </a:endParaRPr>
          </a:p>
        </p:txBody>
      </p:sp>
      <p:sp>
        <p:nvSpPr>
          <p:cNvPr id="4" name="Zástupný symbol pro zápatí 3">
            <a:extLst>
              <a:ext uri="{FF2B5EF4-FFF2-40B4-BE49-F238E27FC236}">
                <a16:creationId xmlns:a16="http://schemas.microsoft.com/office/drawing/2014/main" id="{6166AD99-4944-EA48-F5B1-F0B0C7BA3C39}"/>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811DDF8D-85BB-39D7-C910-280A871B2273}"/>
              </a:ext>
            </a:extLst>
          </p:cNvPr>
          <p:cNvSpPr>
            <a:spLocks noGrp="1"/>
          </p:cNvSpPr>
          <p:nvPr>
            <p:ph type="sldNum" sz="quarter" idx="12"/>
          </p:nvPr>
        </p:nvSpPr>
        <p:spPr/>
        <p:txBody>
          <a:bodyPr/>
          <a:lstStyle/>
          <a:p>
            <a:fld id="{D86AE537-8D19-4AE7-8106-38E1909B856B}" type="slidenum">
              <a:rPr lang="sk-SK" smtClean="0"/>
              <a:pPr/>
              <a:t>4</a:t>
            </a:fld>
            <a:endParaRPr lang="sk-SK"/>
          </a:p>
        </p:txBody>
      </p:sp>
    </p:spTree>
    <p:extLst>
      <p:ext uri="{BB962C8B-B14F-4D97-AF65-F5344CB8AC3E}">
        <p14:creationId xmlns:p14="http://schemas.microsoft.com/office/powerpoint/2010/main" val="35932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04BEF40-4512-BDE6-B877-160B33866530}"/>
              </a:ext>
            </a:extLst>
          </p:cNvPr>
          <p:cNvSpPr>
            <a:spLocks noGrp="1"/>
          </p:cNvSpPr>
          <p:nvPr>
            <p:ph type="title"/>
          </p:nvPr>
        </p:nvSpPr>
        <p:spPr/>
        <p:txBody>
          <a:bodyPr>
            <a:normAutofit/>
          </a:bodyPr>
          <a:lstStyle/>
          <a:p>
            <a:r>
              <a:rPr lang="cs-CZ" sz="2400" dirty="0">
                <a:latin typeface="+mj-lt"/>
              </a:rPr>
              <a:t>Data </a:t>
            </a:r>
            <a:r>
              <a:rPr lang="cs-CZ" sz="2400" dirty="0" err="1">
                <a:latin typeface="+mj-lt"/>
              </a:rPr>
              <a:t>preprocessing</a:t>
            </a:r>
            <a:endParaRPr lang="cs-CZ" sz="2400" dirty="0">
              <a:latin typeface="+mj-lt"/>
            </a:endParaRPr>
          </a:p>
        </p:txBody>
      </p:sp>
      <p:sp>
        <p:nvSpPr>
          <p:cNvPr id="3" name="Zástupný obsah 2">
            <a:extLst>
              <a:ext uri="{FF2B5EF4-FFF2-40B4-BE49-F238E27FC236}">
                <a16:creationId xmlns:a16="http://schemas.microsoft.com/office/drawing/2014/main" id="{46A7F224-3F5E-515A-A8CD-9CD50D0A3075}"/>
              </a:ext>
            </a:extLst>
          </p:cNvPr>
          <p:cNvSpPr>
            <a:spLocks noGrp="1"/>
          </p:cNvSpPr>
          <p:nvPr>
            <p:ph idx="1"/>
          </p:nvPr>
        </p:nvSpPr>
        <p:spPr>
          <a:xfrm>
            <a:off x="323528" y="1284871"/>
            <a:ext cx="4474840" cy="3591007"/>
          </a:xfrm>
        </p:spPr>
        <p:txBody>
          <a:bodyPr>
            <a:normAutofit lnSpcReduction="10000"/>
          </a:bodyPr>
          <a:lstStyle/>
          <a:p>
            <a:r>
              <a:rPr lang="cs-CZ" dirty="0" err="1">
                <a:latin typeface="+mn-lt"/>
              </a:rPr>
              <a:t>Convert</a:t>
            </a:r>
            <a:r>
              <a:rPr lang="cs-CZ" dirty="0">
                <a:latin typeface="+mn-lt"/>
              </a:rPr>
              <a:t> to </a:t>
            </a:r>
            <a:r>
              <a:rPr lang="cs-CZ" b="1" dirty="0" err="1">
                <a:latin typeface="+mn-lt"/>
              </a:rPr>
              <a:t>grayscale</a:t>
            </a:r>
            <a:endParaRPr lang="cs-CZ" b="1" dirty="0">
              <a:latin typeface="+mn-lt"/>
            </a:endParaRPr>
          </a:p>
          <a:p>
            <a:r>
              <a:rPr lang="en-US" dirty="0">
                <a:latin typeface="+mn-lt"/>
              </a:rPr>
              <a:t>Keep native resolution: </a:t>
            </a:r>
            <a:r>
              <a:rPr lang="en-US" b="1" dirty="0">
                <a:latin typeface="+mn-lt"/>
              </a:rPr>
              <a:t>51 × 45</a:t>
            </a:r>
            <a:endParaRPr lang="cs-CZ" b="1" dirty="0">
              <a:latin typeface="+mn-lt"/>
            </a:endParaRPr>
          </a:p>
          <a:p>
            <a:r>
              <a:rPr lang="cs-CZ" dirty="0" err="1">
                <a:latin typeface="+mn-lt"/>
              </a:rPr>
              <a:t>Remove</a:t>
            </a:r>
            <a:r>
              <a:rPr lang="cs-CZ" dirty="0">
                <a:latin typeface="+mn-lt"/>
              </a:rPr>
              <a:t> </a:t>
            </a:r>
            <a:r>
              <a:rPr lang="cs-CZ" dirty="0" err="1">
                <a:latin typeface="+mn-lt"/>
              </a:rPr>
              <a:t>augmentation</a:t>
            </a:r>
            <a:endParaRPr lang="cs-CZ" dirty="0">
              <a:latin typeface="+mn-lt"/>
            </a:endParaRPr>
          </a:p>
          <a:p>
            <a:r>
              <a:rPr lang="cs-CZ" dirty="0" err="1">
                <a:latin typeface="+mn-lt"/>
              </a:rPr>
              <a:t>Normalize</a:t>
            </a:r>
            <a:r>
              <a:rPr lang="cs-CZ" dirty="0">
                <a:latin typeface="+mn-lt"/>
              </a:rPr>
              <a:t> pixel </a:t>
            </a:r>
            <a:r>
              <a:rPr lang="cs-CZ" dirty="0" err="1">
                <a:latin typeface="+mn-lt"/>
              </a:rPr>
              <a:t>values</a:t>
            </a:r>
            <a:endParaRPr lang="cs-CZ" dirty="0">
              <a:latin typeface="+mn-lt"/>
            </a:endParaRPr>
          </a:p>
          <a:p>
            <a:endParaRPr lang="cs-CZ" dirty="0"/>
          </a:p>
        </p:txBody>
      </p:sp>
      <p:sp>
        <p:nvSpPr>
          <p:cNvPr id="4" name="Zástupný symbol pro zápatí 3">
            <a:extLst>
              <a:ext uri="{FF2B5EF4-FFF2-40B4-BE49-F238E27FC236}">
                <a16:creationId xmlns:a16="http://schemas.microsoft.com/office/drawing/2014/main" id="{B304AC82-CD86-A912-3BA2-514D563DE7C9}"/>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D4BD3EEA-DB8B-CBFA-F00A-472F18F28B49}"/>
              </a:ext>
            </a:extLst>
          </p:cNvPr>
          <p:cNvSpPr>
            <a:spLocks noGrp="1"/>
          </p:cNvSpPr>
          <p:nvPr>
            <p:ph type="sldNum" sz="quarter" idx="12"/>
          </p:nvPr>
        </p:nvSpPr>
        <p:spPr/>
        <p:txBody>
          <a:bodyPr/>
          <a:lstStyle/>
          <a:p>
            <a:fld id="{D86AE537-8D19-4AE7-8106-38E1909B856B}" type="slidenum">
              <a:rPr lang="sk-SK" smtClean="0"/>
              <a:pPr/>
              <a:t>5</a:t>
            </a:fld>
            <a:endParaRPr lang="sk-SK"/>
          </a:p>
        </p:txBody>
      </p:sp>
      <p:pic>
        <p:nvPicPr>
          <p:cNvPr id="6" name="Obrázek 5">
            <a:extLst>
              <a:ext uri="{FF2B5EF4-FFF2-40B4-BE49-F238E27FC236}">
                <a16:creationId xmlns:a16="http://schemas.microsoft.com/office/drawing/2014/main" id="{E05637EE-210A-64EC-E4A8-F53964A172D9}"/>
              </a:ext>
            </a:extLst>
          </p:cNvPr>
          <p:cNvPicPr>
            <a:picLocks noChangeAspect="1"/>
          </p:cNvPicPr>
          <p:nvPr/>
        </p:nvPicPr>
        <p:blipFill>
          <a:blip r:embed="rId3"/>
          <a:stretch>
            <a:fillRect/>
          </a:stretch>
        </p:blipFill>
        <p:spPr>
          <a:xfrm>
            <a:off x="5010591" y="1000118"/>
            <a:ext cx="4133409" cy="4065025"/>
          </a:xfrm>
          <a:prstGeom prst="rect">
            <a:avLst/>
          </a:prstGeom>
        </p:spPr>
      </p:pic>
    </p:spTree>
    <p:extLst>
      <p:ext uri="{BB962C8B-B14F-4D97-AF65-F5344CB8AC3E}">
        <p14:creationId xmlns:p14="http://schemas.microsoft.com/office/powerpoint/2010/main" val="1120791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28D1A83-1156-2A72-2806-BEA0F39E62EB}"/>
              </a:ext>
            </a:extLst>
          </p:cNvPr>
          <p:cNvSpPr>
            <a:spLocks noGrp="1"/>
          </p:cNvSpPr>
          <p:nvPr>
            <p:ph type="title"/>
          </p:nvPr>
        </p:nvSpPr>
        <p:spPr/>
        <p:txBody>
          <a:bodyPr>
            <a:normAutofit/>
          </a:bodyPr>
          <a:lstStyle/>
          <a:p>
            <a:r>
              <a:rPr lang="cs-CZ" sz="2400" dirty="0">
                <a:latin typeface="+mj-lt"/>
              </a:rPr>
              <a:t>Network </a:t>
            </a:r>
            <a:r>
              <a:rPr lang="cs-CZ" sz="2400" dirty="0" err="1">
                <a:latin typeface="+mj-lt"/>
              </a:rPr>
              <a:t>Architecture</a:t>
            </a:r>
            <a:endParaRPr lang="cs-CZ" sz="2400" dirty="0">
              <a:latin typeface="+mj-lt"/>
            </a:endParaRPr>
          </a:p>
        </p:txBody>
      </p:sp>
      <p:sp>
        <p:nvSpPr>
          <p:cNvPr id="3" name="Zástupný obsah 2">
            <a:extLst>
              <a:ext uri="{FF2B5EF4-FFF2-40B4-BE49-F238E27FC236}">
                <a16:creationId xmlns:a16="http://schemas.microsoft.com/office/drawing/2014/main" id="{DB57AE8B-129C-B380-0AB7-F9F0D8A366CB}"/>
              </a:ext>
            </a:extLst>
          </p:cNvPr>
          <p:cNvSpPr>
            <a:spLocks noGrp="1"/>
          </p:cNvSpPr>
          <p:nvPr>
            <p:ph idx="1"/>
          </p:nvPr>
        </p:nvSpPr>
        <p:spPr/>
        <p:txBody>
          <a:bodyPr/>
          <a:lstStyle/>
          <a:p>
            <a:endParaRPr lang="cs-CZ" dirty="0"/>
          </a:p>
        </p:txBody>
      </p:sp>
      <p:sp>
        <p:nvSpPr>
          <p:cNvPr id="4" name="Zástupný symbol pro zápatí 3">
            <a:extLst>
              <a:ext uri="{FF2B5EF4-FFF2-40B4-BE49-F238E27FC236}">
                <a16:creationId xmlns:a16="http://schemas.microsoft.com/office/drawing/2014/main" id="{8D293D3F-2D05-594D-D4F0-4A700809A580}"/>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0540C9C1-CFA2-90D9-D927-14F7E1AF769B}"/>
              </a:ext>
            </a:extLst>
          </p:cNvPr>
          <p:cNvSpPr>
            <a:spLocks noGrp="1"/>
          </p:cNvSpPr>
          <p:nvPr>
            <p:ph type="sldNum" sz="quarter" idx="12"/>
          </p:nvPr>
        </p:nvSpPr>
        <p:spPr/>
        <p:txBody>
          <a:bodyPr/>
          <a:lstStyle/>
          <a:p>
            <a:fld id="{D86AE537-8D19-4AE7-8106-38E1909B856B}" type="slidenum">
              <a:rPr lang="sk-SK" smtClean="0"/>
              <a:pPr/>
              <a:t>6</a:t>
            </a:fld>
            <a:endParaRPr lang="sk-SK"/>
          </a:p>
        </p:txBody>
      </p:sp>
      <p:pic>
        <p:nvPicPr>
          <p:cNvPr id="6" name="Obrázek 5">
            <a:extLst>
              <a:ext uri="{FF2B5EF4-FFF2-40B4-BE49-F238E27FC236}">
                <a16:creationId xmlns:a16="http://schemas.microsoft.com/office/drawing/2014/main" id="{7CFAC120-7D3F-EA80-5226-0B33AE562D2D}"/>
              </a:ext>
            </a:extLst>
          </p:cNvPr>
          <p:cNvPicPr>
            <a:picLocks noChangeAspect="1"/>
          </p:cNvPicPr>
          <p:nvPr/>
        </p:nvPicPr>
        <p:blipFill>
          <a:blip r:embed="rId3"/>
          <a:srcRect l="11433" t="3919" r="3288" b="461"/>
          <a:stretch>
            <a:fillRect/>
          </a:stretch>
        </p:blipFill>
        <p:spPr>
          <a:xfrm>
            <a:off x="2753562" y="906290"/>
            <a:ext cx="3636875" cy="4311668"/>
          </a:xfrm>
          <a:prstGeom prst="rect">
            <a:avLst/>
          </a:prstGeom>
        </p:spPr>
      </p:pic>
    </p:spTree>
    <p:extLst>
      <p:ext uri="{BB962C8B-B14F-4D97-AF65-F5344CB8AC3E}">
        <p14:creationId xmlns:p14="http://schemas.microsoft.com/office/powerpoint/2010/main" val="1040105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7AAF4BD-2048-A5F4-4A0F-12B7FD2391A4}"/>
              </a:ext>
            </a:extLst>
          </p:cNvPr>
          <p:cNvSpPr>
            <a:spLocks noGrp="1"/>
          </p:cNvSpPr>
          <p:nvPr>
            <p:ph type="title"/>
          </p:nvPr>
        </p:nvSpPr>
        <p:spPr/>
        <p:txBody>
          <a:bodyPr>
            <a:normAutofit/>
          </a:bodyPr>
          <a:lstStyle/>
          <a:p>
            <a:r>
              <a:rPr lang="cs-CZ" sz="2400" dirty="0" err="1">
                <a:latin typeface="+mj-lt"/>
              </a:rPr>
              <a:t>Training</a:t>
            </a:r>
            <a:r>
              <a:rPr lang="cs-CZ" sz="2400" dirty="0">
                <a:latin typeface="+mj-lt"/>
              </a:rPr>
              <a:t> setup</a:t>
            </a:r>
          </a:p>
        </p:txBody>
      </p:sp>
      <p:sp>
        <p:nvSpPr>
          <p:cNvPr id="3" name="Zástupný obsah 2">
            <a:extLst>
              <a:ext uri="{FF2B5EF4-FFF2-40B4-BE49-F238E27FC236}">
                <a16:creationId xmlns:a16="http://schemas.microsoft.com/office/drawing/2014/main" id="{B69F1953-A434-E55D-917D-DE98F160D5D2}"/>
              </a:ext>
            </a:extLst>
          </p:cNvPr>
          <p:cNvSpPr>
            <a:spLocks noGrp="1"/>
          </p:cNvSpPr>
          <p:nvPr>
            <p:ph idx="1"/>
          </p:nvPr>
        </p:nvSpPr>
        <p:spPr/>
        <p:txBody>
          <a:bodyPr/>
          <a:lstStyle/>
          <a:p>
            <a:r>
              <a:rPr lang="en-US" dirty="0">
                <a:latin typeface="+mn-lt"/>
              </a:rPr>
              <a:t>Stratified split: 80% train / 20% validation</a:t>
            </a:r>
          </a:p>
          <a:p>
            <a:r>
              <a:rPr lang="en-US" dirty="0">
                <a:latin typeface="+mn-lt"/>
              </a:rPr>
              <a:t>Optimizer: Adam</a:t>
            </a:r>
          </a:p>
          <a:p>
            <a:r>
              <a:rPr lang="en-US" dirty="0">
                <a:latin typeface="+mn-lt"/>
              </a:rPr>
              <a:t>Learning rate: 0.0005</a:t>
            </a:r>
          </a:p>
          <a:p>
            <a:r>
              <a:rPr lang="en-US" dirty="0">
                <a:latin typeface="+mn-lt"/>
              </a:rPr>
              <a:t>Trained for 50 epochs</a:t>
            </a:r>
          </a:p>
          <a:p>
            <a:r>
              <a:rPr lang="en-US" dirty="0">
                <a:latin typeface="+mn-lt"/>
              </a:rPr>
              <a:t>Early stopping enabled</a:t>
            </a:r>
            <a:endParaRPr lang="cs-CZ" dirty="0">
              <a:latin typeface="+mn-lt"/>
            </a:endParaRPr>
          </a:p>
          <a:p>
            <a:r>
              <a:rPr lang="en-US" dirty="0" err="1">
                <a:latin typeface="+mn-lt"/>
              </a:rPr>
              <a:t>ReduceLROnPlateau</a:t>
            </a:r>
            <a:endParaRPr lang="en-US" dirty="0">
              <a:latin typeface="+mn-lt"/>
            </a:endParaRPr>
          </a:p>
          <a:p>
            <a:pPr marL="0" indent="0">
              <a:buNone/>
            </a:pPr>
            <a:endParaRPr lang="cs-CZ" dirty="0"/>
          </a:p>
        </p:txBody>
      </p:sp>
      <p:sp>
        <p:nvSpPr>
          <p:cNvPr id="4" name="Zástupný symbol pro zápatí 3">
            <a:extLst>
              <a:ext uri="{FF2B5EF4-FFF2-40B4-BE49-F238E27FC236}">
                <a16:creationId xmlns:a16="http://schemas.microsoft.com/office/drawing/2014/main" id="{CC016679-F305-4B8A-915D-A0E9C1EBE43C}"/>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5F75F99A-D5AE-B68C-C5B3-A922B7E843C0}"/>
              </a:ext>
            </a:extLst>
          </p:cNvPr>
          <p:cNvSpPr>
            <a:spLocks noGrp="1"/>
          </p:cNvSpPr>
          <p:nvPr>
            <p:ph type="sldNum" sz="quarter" idx="12"/>
          </p:nvPr>
        </p:nvSpPr>
        <p:spPr/>
        <p:txBody>
          <a:bodyPr/>
          <a:lstStyle/>
          <a:p>
            <a:fld id="{D86AE537-8D19-4AE7-8106-38E1909B856B}" type="slidenum">
              <a:rPr lang="sk-SK" smtClean="0"/>
              <a:pPr/>
              <a:t>7</a:t>
            </a:fld>
            <a:endParaRPr lang="sk-SK"/>
          </a:p>
        </p:txBody>
      </p:sp>
    </p:spTree>
    <p:extLst>
      <p:ext uri="{BB962C8B-B14F-4D97-AF65-F5344CB8AC3E}">
        <p14:creationId xmlns:p14="http://schemas.microsoft.com/office/powerpoint/2010/main" val="2187296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982B653-E0BA-4062-ECE0-871E7D75458D}"/>
              </a:ext>
            </a:extLst>
          </p:cNvPr>
          <p:cNvSpPr>
            <a:spLocks noGrp="1"/>
          </p:cNvSpPr>
          <p:nvPr>
            <p:ph type="title"/>
          </p:nvPr>
        </p:nvSpPr>
        <p:spPr/>
        <p:txBody>
          <a:bodyPr>
            <a:normAutofit/>
          </a:bodyPr>
          <a:lstStyle/>
          <a:p>
            <a:r>
              <a:rPr lang="cs-CZ" sz="2400" dirty="0" err="1">
                <a:latin typeface="+mj-lt"/>
              </a:rPr>
              <a:t>Other</a:t>
            </a:r>
            <a:r>
              <a:rPr lang="cs-CZ" sz="2400" dirty="0">
                <a:latin typeface="+mj-lt"/>
              </a:rPr>
              <a:t> </a:t>
            </a:r>
            <a:r>
              <a:rPr lang="cs-CZ" sz="2400" dirty="0" err="1">
                <a:latin typeface="+mj-lt"/>
              </a:rPr>
              <a:t>tested</a:t>
            </a:r>
            <a:r>
              <a:rPr lang="cs-CZ" sz="2400" dirty="0">
                <a:latin typeface="+mj-lt"/>
              </a:rPr>
              <a:t> </a:t>
            </a:r>
            <a:r>
              <a:rPr lang="cs-CZ" sz="2400" dirty="0" err="1">
                <a:latin typeface="+mj-lt"/>
              </a:rPr>
              <a:t>approaches</a:t>
            </a:r>
            <a:endParaRPr lang="cs-CZ" sz="2400" dirty="0">
              <a:latin typeface="+mj-lt"/>
            </a:endParaRPr>
          </a:p>
        </p:txBody>
      </p:sp>
      <p:sp>
        <p:nvSpPr>
          <p:cNvPr id="3" name="Zástupný obsah 2">
            <a:extLst>
              <a:ext uri="{FF2B5EF4-FFF2-40B4-BE49-F238E27FC236}">
                <a16:creationId xmlns:a16="http://schemas.microsoft.com/office/drawing/2014/main" id="{EAB0237A-4144-0ACF-1240-E62EE8CDDFF5}"/>
              </a:ext>
            </a:extLst>
          </p:cNvPr>
          <p:cNvSpPr>
            <a:spLocks noGrp="1"/>
          </p:cNvSpPr>
          <p:nvPr>
            <p:ph idx="1"/>
          </p:nvPr>
        </p:nvSpPr>
        <p:spPr/>
        <p:txBody>
          <a:bodyPr>
            <a:normAutofit fontScale="92500"/>
          </a:bodyPr>
          <a:lstStyle/>
          <a:p>
            <a:r>
              <a:rPr lang="en-US" dirty="0">
                <a:latin typeface="+mn-lt"/>
              </a:rPr>
              <a:t>4–5 Convolutional layers + Batch Normalization</a:t>
            </a:r>
          </a:p>
          <a:p>
            <a:r>
              <a:rPr lang="en-US" dirty="0">
                <a:latin typeface="+mn-lt"/>
              </a:rPr>
              <a:t>Deep </a:t>
            </a:r>
            <a:r>
              <a:rPr lang="en-US" dirty="0" err="1">
                <a:latin typeface="+mn-lt"/>
              </a:rPr>
              <a:t>ResNet</a:t>
            </a:r>
            <a:r>
              <a:rPr lang="en-US" dirty="0">
                <a:latin typeface="+mn-lt"/>
              </a:rPr>
              <a:t>-inspired backbone + Squeeze-and-Excitation (SE) Attention blocks</a:t>
            </a:r>
          </a:p>
          <a:p>
            <a:r>
              <a:rPr lang="en-US" dirty="0">
                <a:latin typeface="+mn-lt"/>
              </a:rPr>
              <a:t>Issue: Extreme overfitting; the model had enough capacity to "map" the entire training set rather than learn it</a:t>
            </a:r>
          </a:p>
          <a:p>
            <a:endParaRPr lang="cs-CZ" dirty="0"/>
          </a:p>
        </p:txBody>
      </p:sp>
      <p:sp>
        <p:nvSpPr>
          <p:cNvPr id="4" name="Zástupný symbol pro zápatí 3">
            <a:extLst>
              <a:ext uri="{FF2B5EF4-FFF2-40B4-BE49-F238E27FC236}">
                <a16:creationId xmlns:a16="http://schemas.microsoft.com/office/drawing/2014/main" id="{2F9FFED8-1874-C311-0A25-079F0B2C8B7A}"/>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424693AD-9559-1722-51B3-2DE8CC71CE28}"/>
              </a:ext>
            </a:extLst>
          </p:cNvPr>
          <p:cNvSpPr>
            <a:spLocks noGrp="1"/>
          </p:cNvSpPr>
          <p:nvPr>
            <p:ph type="sldNum" sz="quarter" idx="12"/>
          </p:nvPr>
        </p:nvSpPr>
        <p:spPr/>
        <p:txBody>
          <a:bodyPr/>
          <a:lstStyle/>
          <a:p>
            <a:fld id="{D86AE537-8D19-4AE7-8106-38E1909B856B}" type="slidenum">
              <a:rPr lang="sk-SK" smtClean="0"/>
              <a:pPr/>
              <a:t>8</a:t>
            </a:fld>
            <a:endParaRPr lang="sk-SK"/>
          </a:p>
        </p:txBody>
      </p:sp>
    </p:spTree>
    <p:extLst>
      <p:ext uri="{BB962C8B-B14F-4D97-AF65-F5344CB8AC3E}">
        <p14:creationId xmlns:p14="http://schemas.microsoft.com/office/powerpoint/2010/main" val="3933849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08E9C43-6A54-F8CA-0A47-58145E5BCCCD}"/>
              </a:ext>
            </a:extLst>
          </p:cNvPr>
          <p:cNvSpPr>
            <a:spLocks noGrp="1"/>
          </p:cNvSpPr>
          <p:nvPr>
            <p:ph type="title"/>
          </p:nvPr>
        </p:nvSpPr>
        <p:spPr/>
        <p:txBody>
          <a:bodyPr>
            <a:normAutofit/>
          </a:bodyPr>
          <a:lstStyle/>
          <a:p>
            <a:r>
              <a:rPr lang="cs-CZ" sz="2400" dirty="0" err="1">
                <a:latin typeface="+mj-lt"/>
              </a:rPr>
              <a:t>Results</a:t>
            </a:r>
            <a:endParaRPr lang="cs-CZ" sz="2400" dirty="0">
              <a:latin typeface="+mj-lt"/>
            </a:endParaRPr>
          </a:p>
        </p:txBody>
      </p:sp>
      <p:sp>
        <p:nvSpPr>
          <p:cNvPr id="3" name="Zástupný obsah 2">
            <a:extLst>
              <a:ext uri="{FF2B5EF4-FFF2-40B4-BE49-F238E27FC236}">
                <a16:creationId xmlns:a16="http://schemas.microsoft.com/office/drawing/2014/main" id="{4D7C7180-BB22-E52F-7268-AB10477E3439}"/>
              </a:ext>
            </a:extLst>
          </p:cNvPr>
          <p:cNvSpPr>
            <a:spLocks noGrp="1"/>
          </p:cNvSpPr>
          <p:nvPr>
            <p:ph idx="1"/>
          </p:nvPr>
        </p:nvSpPr>
        <p:spPr>
          <a:xfrm>
            <a:off x="260256" y="1178028"/>
            <a:ext cx="3953289" cy="3695696"/>
          </a:xfrm>
        </p:spPr>
        <p:txBody>
          <a:bodyPr>
            <a:normAutofit fontScale="92500" lnSpcReduction="10000"/>
          </a:bodyPr>
          <a:lstStyle/>
          <a:p>
            <a:r>
              <a:rPr lang="en-US" dirty="0">
                <a:latin typeface="+mn-lt"/>
              </a:rPr>
              <a:t>Final validation accuracy: 97%</a:t>
            </a:r>
          </a:p>
          <a:p>
            <a:r>
              <a:rPr lang="en-US" dirty="0">
                <a:latin typeface="+mn-lt"/>
              </a:rPr>
              <a:t>Kaggle result: </a:t>
            </a:r>
            <a:r>
              <a:rPr lang="en-US" b="1" dirty="0">
                <a:latin typeface="+mn-lt"/>
              </a:rPr>
              <a:t>6th</a:t>
            </a:r>
            <a:r>
              <a:rPr lang="en-US" dirty="0">
                <a:latin typeface="+mn-lt"/>
              </a:rPr>
              <a:t> out of 22</a:t>
            </a:r>
          </a:p>
          <a:p>
            <a:r>
              <a:rPr lang="en-US" dirty="0">
                <a:latin typeface="+mn-lt"/>
              </a:rPr>
              <a:t>Public score: 0.96855 • </a:t>
            </a:r>
            <a:endParaRPr lang="cs-CZ" dirty="0">
              <a:latin typeface="+mn-lt"/>
            </a:endParaRPr>
          </a:p>
          <a:p>
            <a:r>
              <a:rPr lang="en-US" dirty="0">
                <a:latin typeface="+mn-lt"/>
              </a:rPr>
              <a:t>Private score: 0.97175</a:t>
            </a:r>
          </a:p>
          <a:p>
            <a:endParaRPr lang="cs-CZ" dirty="0">
              <a:latin typeface="+mn-lt"/>
            </a:endParaRPr>
          </a:p>
        </p:txBody>
      </p:sp>
      <p:sp>
        <p:nvSpPr>
          <p:cNvPr id="4" name="Zástupný symbol pro zápatí 3">
            <a:extLst>
              <a:ext uri="{FF2B5EF4-FFF2-40B4-BE49-F238E27FC236}">
                <a16:creationId xmlns:a16="http://schemas.microsoft.com/office/drawing/2014/main" id="{933D4FCF-5F56-C450-8C3E-AA597CD7EC76}"/>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71E04E29-B14E-FA98-F1D4-7C16BD419DFB}"/>
              </a:ext>
            </a:extLst>
          </p:cNvPr>
          <p:cNvSpPr>
            <a:spLocks noGrp="1"/>
          </p:cNvSpPr>
          <p:nvPr>
            <p:ph type="sldNum" sz="quarter" idx="12"/>
          </p:nvPr>
        </p:nvSpPr>
        <p:spPr/>
        <p:txBody>
          <a:bodyPr/>
          <a:lstStyle/>
          <a:p>
            <a:fld id="{D86AE537-8D19-4AE7-8106-38E1909B856B}" type="slidenum">
              <a:rPr lang="sk-SK" smtClean="0"/>
              <a:pPr/>
              <a:t>9</a:t>
            </a:fld>
            <a:endParaRPr lang="sk-SK"/>
          </a:p>
        </p:txBody>
      </p:sp>
      <p:pic>
        <p:nvPicPr>
          <p:cNvPr id="7" name="Obrázek 6">
            <a:extLst>
              <a:ext uri="{FF2B5EF4-FFF2-40B4-BE49-F238E27FC236}">
                <a16:creationId xmlns:a16="http://schemas.microsoft.com/office/drawing/2014/main" id="{D0323426-4920-EF67-A788-2556036F41A6}"/>
              </a:ext>
            </a:extLst>
          </p:cNvPr>
          <p:cNvPicPr>
            <a:picLocks noChangeAspect="1"/>
          </p:cNvPicPr>
          <p:nvPr/>
        </p:nvPicPr>
        <p:blipFill>
          <a:blip r:embed="rId3"/>
          <a:stretch>
            <a:fillRect/>
          </a:stretch>
        </p:blipFill>
        <p:spPr>
          <a:xfrm>
            <a:off x="4170509" y="1070447"/>
            <a:ext cx="4704831" cy="3973339"/>
          </a:xfrm>
          <a:prstGeom prst="rect">
            <a:avLst/>
          </a:prstGeom>
        </p:spPr>
      </p:pic>
    </p:spTree>
    <p:extLst>
      <p:ext uri="{BB962C8B-B14F-4D97-AF65-F5344CB8AC3E}">
        <p14:creationId xmlns:p14="http://schemas.microsoft.com/office/powerpoint/2010/main" val="86501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BDB114-A28E-354A-F6EC-955FE2DD0710}"/>
              </a:ext>
            </a:extLst>
          </p:cNvPr>
          <p:cNvSpPr>
            <a:spLocks noGrp="1"/>
          </p:cNvSpPr>
          <p:nvPr>
            <p:ph type="title"/>
          </p:nvPr>
        </p:nvSpPr>
        <p:spPr/>
        <p:txBody>
          <a:bodyPr>
            <a:normAutofit/>
          </a:bodyPr>
          <a:lstStyle/>
          <a:p>
            <a:r>
              <a:rPr lang="cs-CZ" sz="2400" dirty="0" err="1">
                <a:latin typeface="+mj-lt"/>
              </a:rPr>
              <a:t>Main</a:t>
            </a:r>
            <a:r>
              <a:rPr lang="cs-CZ" sz="2400" dirty="0">
                <a:latin typeface="+mj-lt"/>
              </a:rPr>
              <a:t> </a:t>
            </a:r>
            <a:r>
              <a:rPr lang="cs-CZ" sz="2400" dirty="0" err="1">
                <a:latin typeface="+mj-lt"/>
              </a:rPr>
              <a:t>takeaway</a:t>
            </a:r>
            <a:endParaRPr lang="cs-CZ" sz="2400" dirty="0">
              <a:latin typeface="+mj-lt"/>
            </a:endParaRPr>
          </a:p>
        </p:txBody>
      </p:sp>
      <p:sp>
        <p:nvSpPr>
          <p:cNvPr id="3" name="Zástupný obsah 2">
            <a:extLst>
              <a:ext uri="{FF2B5EF4-FFF2-40B4-BE49-F238E27FC236}">
                <a16:creationId xmlns:a16="http://schemas.microsoft.com/office/drawing/2014/main" id="{5A37C5C4-B1A8-D68A-2D95-03C9683290DE}"/>
              </a:ext>
            </a:extLst>
          </p:cNvPr>
          <p:cNvSpPr>
            <a:spLocks noGrp="1"/>
          </p:cNvSpPr>
          <p:nvPr>
            <p:ph idx="1"/>
          </p:nvPr>
        </p:nvSpPr>
        <p:spPr/>
        <p:txBody>
          <a:bodyPr/>
          <a:lstStyle/>
          <a:p>
            <a:r>
              <a:rPr lang="cs-CZ" dirty="0" err="1">
                <a:latin typeface="+mn-lt"/>
              </a:rPr>
              <a:t>The</a:t>
            </a:r>
            <a:r>
              <a:rPr lang="cs-CZ" dirty="0">
                <a:latin typeface="+mn-lt"/>
              </a:rPr>
              <a:t> </a:t>
            </a:r>
            <a:r>
              <a:rPr lang="cs-CZ" dirty="0" err="1">
                <a:latin typeface="+mn-lt"/>
              </a:rPr>
              <a:t>real</a:t>
            </a:r>
            <a:r>
              <a:rPr lang="cs-CZ" dirty="0">
                <a:latin typeface="+mn-lt"/>
              </a:rPr>
              <a:t> </a:t>
            </a:r>
            <a:r>
              <a:rPr lang="cs-CZ" dirty="0" err="1">
                <a:latin typeface="+mn-lt"/>
              </a:rPr>
              <a:t>problem</a:t>
            </a:r>
            <a:r>
              <a:rPr lang="cs-CZ" dirty="0">
                <a:latin typeface="+mn-lt"/>
              </a:rPr>
              <a:t> </a:t>
            </a:r>
            <a:r>
              <a:rPr lang="cs-CZ" dirty="0" err="1">
                <a:latin typeface="+mn-lt"/>
              </a:rPr>
              <a:t>was</a:t>
            </a:r>
            <a:r>
              <a:rPr lang="cs-CZ" dirty="0">
                <a:latin typeface="+mn-lt"/>
              </a:rPr>
              <a:t> data </a:t>
            </a:r>
            <a:r>
              <a:rPr lang="cs-CZ" dirty="0" err="1">
                <a:latin typeface="+mn-lt"/>
              </a:rPr>
              <a:t>quality</a:t>
            </a:r>
            <a:r>
              <a:rPr lang="cs-CZ" dirty="0">
                <a:latin typeface="+mn-lt"/>
              </a:rPr>
              <a:t> (</a:t>
            </a:r>
            <a:r>
              <a:rPr lang="cs-CZ" dirty="0" err="1">
                <a:latin typeface="+mn-lt"/>
              </a:rPr>
              <a:t>noise</a:t>
            </a:r>
            <a:r>
              <a:rPr lang="cs-CZ" dirty="0">
                <a:latin typeface="+mn-lt"/>
              </a:rPr>
              <a:t>) </a:t>
            </a:r>
          </a:p>
          <a:p>
            <a:r>
              <a:rPr lang="cs-CZ" dirty="0" err="1">
                <a:latin typeface="+mn-lt"/>
              </a:rPr>
              <a:t>Preprocessing</a:t>
            </a:r>
            <a:r>
              <a:rPr lang="cs-CZ" dirty="0">
                <a:latin typeface="+mn-lt"/>
              </a:rPr>
              <a:t> </a:t>
            </a:r>
            <a:r>
              <a:rPr lang="cs-CZ" dirty="0" err="1">
                <a:latin typeface="+mn-lt"/>
              </a:rPr>
              <a:t>mattered</a:t>
            </a:r>
            <a:r>
              <a:rPr lang="cs-CZ" dirty="0">
                <a:latin typeface="+mn-lt"/>
              </a:rPr>
              <a:t> more </a:t>
            </a:r>
            <a:r>
              <a:rPr lang="cs-CZ" dirty="0" err="1">
                <a:latin typeface="+mn-lt"/>
              </a:rPr>
              <a:t>than</a:t>
            </a:r>
            <a:r>
              <a:rPr lang="cs-CZ" dirty="0">
                <a:latin typeface="+mn-lt"/>
              </a:rPr>
              <a:t> </a:t>
            </a:r>
            <a:r>
              <a:rPr lang="cs-CZ" dirty="0" err="1">
                <a:latin typeface="+mn-lt"/>
              </a:rPr>
              <a:t>architectural</a:t>
            </a:r>
            <a:r>
              <a:rPr lang="cs-CZ" dirty="0">
                <a:latin typeface="+mn-lt"/>
              </a:rPr>
              <a:t> </a:t>
            </a:r>
            <a:r>
              <a:rPr lang="cs-CZ" dirty="0" err="1">
                <a:latin typeface="+mn-lt"/>
              </a:rPr>
              <a:t>complexity</a:t>
            </a:r>
            <a:r>
              <a:rPr lang="cs-CZ" dirty="0">
                <a:latin typeface="+mn-lt"/>
              </a:rPr>
              <a:t> (</a:t>
            </a:r>
            <a:r>
              <a:rPr lang="cs-CZ" dirty="0" err="1">
                <a:latin typeface="+mn-lt"/>
              </a:rPr>
              <a:t>garbage</a:t>
            </a:r>
            <a:r>
              <a:rPr lang="cs-CZ" dirty="0">
                <a:latin typeface="+mn-lt"/>
              </a:rPr>
              <a:t> in-</a:t>
            </a:r>
            <a:r>
              <a:rPr lang="cs-CZ" dirty="0" err="1">
                <a:latin typeface="+mn-lt"/>
              </a:rPr>
              <a:t>garbage</a:t>
            </a:r>
            <a:r>
              <a:rPr lang="cs-CZ" dirty="0">
                <a:latin typeface="+mn-lt"/>
              </a:rPr>
              <a:t> out)</a:t>
            </a:r>
          </a:p>
          <a:p>
            <a:r>
              <a:rPr lang="en-US" dirty="0">
                <a:latin typeface="+mn-lt"/>
              </a:rPr>
              <a:t>"Bigger" models were not automatically better</a:t>
            </a:r>
          </a:p>
          <a:p>
            <a:pPr marL="0" indent="0">
              <a:buNone/>
            </a:pPr>
            <a:endParaRPr lang="cs-CZ" dirty="0"/>
          </a:p>
        </p:txBody>
      </p:sp>
      <p:sp>
        <p:nvSpPr>
          <p:cNvPr id="4" name="Zástupný symbol pro zápatí 3">
            <a:extLst>
              <a:ext uri="{FF2B5EF4-FFF2-40B4-BE49-F238E27FC236}">
                <a16:creationId xmlns:a16="http://schemas.microsoft.com/office/drawing/2014/main" id="{F8060B96-E655-AA54-E628-B30A4630038C}"/>
              </a:ext>
            </a:extLst>
          </p:cNvPr>
          <p:cNvSpPr>
            <a:spLocks noGrp="1"/>
          </p:cNvSpPr>
          <p:nvPr>
            <p:ph type="ftr" sz="quarter" idx="11"/>
          </p:nvPr>
        </p:nvSpPr>
        <p:spPr/>
        <p:txBody>
          <a:bodyPr/>
          <a:lstStyle/>
          <a:p>
            <a:r>
              <a:rPr lang="sk-SK"/>
              <a:t>urel@feec.vutbr.cz</a:t>
            </a:r>
          </a:p>
        </p:txBody>
      </p:sp>
      <p:sp>
        <p:nvSpPr>
          <p:cNvPr id="5" name="Zástupný symbol pro číslo snímku 4">
            <a:extLst>
              <a:ext uri="{FF2B5EF4-FFF2-40B4-BE49-F238E27FC236}">
                <a16:creationId xmlns:a16="http://schemas.microsoft.com/office/drawing/2014/main" id="{61F23D00-0E17-1722-6FCC-3258414D642A}"/>
              </a:ext>
            </a:extLst>
          </p:cNvPr>
          <p:cNvSpPr>
            <a:spLocks noGrp="1"/>
          </p:cNvSpPr>
          <p:nvPr>
            <p:ph type="sldNum" sz="quarter" idx="12"/>
          </p:nvPr>
        </p:nvSpPr>
        <p:spPr/>
        <p:txBody>
          <a:bodyPr/>
          <a:lstStyle/>
          <a:p>
            <a:fld id="{D86AE537-8D19-4AE7-8106-38E1909B856B}" type="slidenum">
              <a:rPr lang="sk-SK" smtClean="0"/>
              <a:pPr/>
              <a:t>10</a:t>
            </a:fld>
            <a:endParaRPr lang="sk-SK"/>
          </a:p>
        </p:txBody>
      </p:sp>
    </p:spTree>
    <p:extLst>
      <p:ext uri="{BB962C8B-B14F-4D97-AF65-F5344CB8AC3E}">
        <p14:creationId xmlns:p14="http://schemas.microsoft.com/office/powerpoint/2010/main" val="1011695764"/>
      </p:ext>
    </p:extLst>
  </p:cSld>
  <p:clrMapOvr>
    <a:masterClrMapping/>
  </p:clrMapOvr>
</p:sld>
</file>

<file path=ppt/theme/theme1.xml><?xml version="1.0" encoding="utf-8"?>
<a:theme xmlns:a="http://schemas.openxmlformats.org/drawingml/2006/main" name="UREL_sablon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REL_fo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headEnd/>
          <a:tailEnd/>
        </a:ln>
      </a:spPr>
      <a:bodyPr anchor="ctr"/>
      <a:lstStyle>
        <a:defPPr algn="ctr">
          <a:defRPr sz="2000" smtClean="0">
            <a:solidFill>
              <a:schemeClr val="bg1"/>
            </a:solidFill>
          </a:defRPr>
        </a:defPPr>
      </a:lstStyle>
    </a:spDef>
    <a:txDef>
      <a:spPr bwMode="auto">
        <a:noFill/>
        <a:ln w="9525">
          <a:noFill/>
          <a:miter lim="800000"/>
          <a:headEnd/>
          <a:tailEnd/>
        </a:ln>
      </a:spPr>
      <a:bodyPr>
        <a:spAutoFit/>
      </a:bodyPr>
      <a:lstStyle>
        <a:defPPr algn="ctr">
          <a:spcBef>
            <a:spcPct val="50000"/>
          </a:spcBef>
          <a:defRPr sz="3200" b="1" dirty="0" smtClean="0">
            <a:solidFill>
              <a:srgbClr val="004057"/>
            </a:solidFill>
          </a:defRPr>
        </a:defPPr>
      </a:lstStyle>
    </a:txDef>
  </a:objectDefaults>
  <a:extraClrScheme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7B833BF6F7657342A946973398CD4C0A" ma:contentTypeVersion="3" ma:contentTypeDescription="Vytvoří nový dokument" ma:contentTypeScope="" ma:versionID="95fb4becba55a23c2bce2d7ed9fbdcff">
  <xsd:schema xmlns:xsd="http://www.w3.org/2001/XMLSchema" xmlns:xs="http://www.w3.org/2001/XMLSchema" xmlns:p="http://schemas.microsoft.com/office/2006/metadata/properties" xmlns:ns2="e94de559-8512-4cbb-ab6a-0c90603092bf" targetNamespace="http://schemas.microsoft.com/office/2006/metadata/properties" ma:root="true" ma:fieldsID="2002198211264a5e1aec29fe54dacdad" ns2:_="">
    <xsd:import namespace="e94de559-8512-4cbb-ab6a-0c90603092b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4de559-8512-4cbb-ab6a-0c90603092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F30762-1FCC-4A63-BDE6-DDA24BF227C6}">
  <ds:schemaRefs>
    <ds:schemaRef ds:uri="http://schemas.microsoft.com/office/2006/metadata/properties"/>
    <ds:schemaRef ds:uri="http://schemas.microsoft.com/office/infopath/2007/PartnerControls"/>
    <ds:schemaRef ds:uri="c3f213bd-2fa7-4b18-8612-7d1072fdb3f9"/>
    <ds:schemaRef ds:uri="4246905c-ab47-4f6f-b213-71d39996c241"/>
  </ds:schemaRefs>
</ds:datastoreItem>
</file>

<file path=customXml/itemProps2.xml><?xml version="1.0" encoding="utf-8"?>
<ds:datastoreItem xmlns:ds="http://schemas.openxmlformats.org/officeDocument/2006/customXml" ds:itemID="{6D52C7BA-DD0C-43DA-A93F-5C867461F2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4de559-8512-4cbb-ab6a-0c90603092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681CBA-F498-417C-B12C-912C2BCC38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Prezentace_DREL (2)</Template>
  <TotalTime>872</TotalTime>
  <Words>2044</Words>
  <Application>Microsoft Office PowerPoint</Application>
  <PresentationFormat>Předvádění na obrazovce (16:10)</PresentationFormat>
  <Paragraphs>151</Paragraphs>
  <Slides>10</Slides>
  <Notes>9</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10</vt:i4>
      </vt:variant>
    </vt:vector>
  </HeadingPairs>
  <TitlesOfParts>
    <vt:vector size="17" baseType="lpstr">
      <vt:lpstr>Abadi</vt:lpstr>
      <vt:lpstr>Arial</vt:lpstr>
      <vt:lpstr>Calibri</vt:lpstr>
      <vt:lpstr>Tahoma</vt:lpstr>
      <vt:lpstr>Vafle Light VUT</vt:lpstr>
      <vt:lpstr>Wingdings</vt:lpstr>
      <vt:lpstr>UREL_sablona</vt:lpstr>
      <vt:lpstr>Prezentace aplikace PowerPoint</vt:lpstr>
      <vt:lpstr>Task challenges </vt:lpstr>
      <vt:lpstr>Initial aproach</vt:lpstr>
      <vt:lpstr>Data Fix</vt:lpstr>
      <vt:lpstr>Data preprocessing</vt:lpstr>
      <vt:lpstr>Network Architecture</vt:lpstr>
      <vt:lpstr>Training setup</vt:lpstr>
      <vt:lpstr>Other tested approaches</vt:lpstr>
      <vt:lpstr>Results</vt:lpstr>
      <vt:lpstr>Main 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Koňař Lukáš (247398)</cp:lastModifiedBy>
  <cp:revision>25</cp:revision>
  <cp:lastPrinted>2015-04-22T08:52:20Z</cp:lastPrinted>
  <dcterms:created xsi:type="dcterms:W3CDTF">2023-01-04T09:45:33Z</dcterms:created>
  <dcterms:modified xsi:type="dcterms:W3CDTF">2026-05-03T20:33:17Z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0x0101007B833BF6F7657342A946973398CD4C0A</vt:lpwstr>
  </property>
  <property fmtid="{D5CDD505-2E9C-101B-9397-08002B2CF9AE}" pid="3" name="MediaServiceImageTags">
    <vt:lpwstr/>
  </property>
</Properties>
</file>